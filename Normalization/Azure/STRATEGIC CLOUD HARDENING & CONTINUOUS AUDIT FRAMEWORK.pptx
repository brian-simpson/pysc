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0944B1-5105-4641-A3F0-454F38E1B9AB}" v="167" dt="2026-05-12T19:46:35.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66949" autoAdjust="0"/>
  </p:normalViewPr>
  <p:slideViewPr>
    <p:cSldViewPr snapToGrid="0">
      <p:cViewPr varScale="1">
        <p:scale>
          <a:sx n="74" d="100"/>
          <a:sy n="74" d="100"/>
        </p:scale>
        <p:origin x="1992" y="6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F84ABE5-FAEB-CA96-2282-72E7F017828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1D00B4E-ACB4-1F4A-127B-A5DE909696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0BD6FF-B089-4276-8E7A-FB0ABF3F92EE}" type="datetimeFigureOut">
              <a:rPr lang="en-US" smtClean="0"/>
              <a:t>5/12/2026</a:t>
            </a:fld>
            <a:endParaRPr lang="en-US"/>
          </a:p>
        </p:txBody>
      </p:sp>
      <p:sp>
        <p:nvSpPr>
          <p:cNvPr id="4" name="Footer Placeholder 3">
            <a:extLst>
              <a:ext uri="{FF2B5EF4-FFF2-40B4-BE49-F238E27FC236}">
                <a16:creationId xmlns:a16="http://schemas.microsoft.com/office/drawing/2014/main" id="{1F1AFB81-B06D-88EC-BB26-4D88FD50D1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3E553E0-84FB-F429-57B2-5849A653E16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9C1D0-6D93-42B1-9D19-013993ECCFB8}" type="slidenum">
              <a:rPr lang="en-US" smtClean="0"/>
              <a:t>‹#›</a:t>
            </a:fld>
            <a:endParaRPr lang="en-US"/>
          </a:p>
        </p:txBody>
      </p:sp>
    </p:spTree>
    <p:extLst>
      <p:ext uri="{BB962C8B-B14F-4D97-AF65-F5344CB8AC3E}">
        <p14:creationId xmlns:p14="http://schemas.microsoft.com/office/powerpoint/2010/main" val="41066503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32AB99-289C-4593-94AD-5B9D5C4A6D11}" type="datetimeFigureOut">
              <a:rPr lang="en-US" smtClean="0"/>
              <a:t>5/12/2026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B7BF91-43EE-4A13-9DB2-91396105D456}" type="slidenum">
              <a:rPr lang="en-US" smtClean="0"/>
              <a:t>‹#›</a:t>
            </a:fld>
            <a:endParaRPr lang="en-US"/>
          </a:p>
        </p:txBody>
      </p:sp>
    </p:spTree>
    <p:extLst>
      <p:ext uri="{BB962C8B-B14F-4D97-AF65-F5344CB8AC3E}">
        <p14:creationId xmlns:p14="http://schemas.microsoft.com/office/powerpoint/2010/main" val="1342637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oogle.com/url?sa=i&amp;source=web&amp;rct=j&amp;url=https://www.tenable.com/blog/exploring-the-exposure-management-maturity-model&amp;ved=2ahUKEwik8ZWat7SUAxXfjokEHb8lMuUQy_kOeggIAggACAgQAQ&amp;opi=89978449&amp;cd&amp;psig=AOvVaw1y8J4H8yUwABrcQPeQmZ6y&amp;ust=1778698715715000"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www.google.com/url?sa=i&amp;source=web&amp;rct=j&amp;url=https://www.recordedfuture.com/blog/maturity-gap-next-frontier-in-threat-intelligence&amp;ved=2ahUKEwik8ZWat7SUAxXfjokEHb8lMuUQy_kOeggIAggACAgQAg&amp;opi=89978449&amp;cd&amp;psig=AOvVaw1y8J4H8yUwABrcQPeQmZ6y&amp;ust=1778698715715000"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A Security Maturity Curve illustrates an organization's transition from reactive, manual processes to a proactive, data-driven security posture. According to industry frameworks like </a:t>
            </a:r>
            <a:r>
              <a:rPr lang="en-US" sz="1200" b="0" u="none" strike="noStrike" kern="1200" dirty="0" err="1">
                <a:solidFill>
                  <a:schemeClr val="tx1"/>
                </a:solidFill>
                <a:effectLst/>
                <a:latin typeface="+mn-lt"/>
                <a:ea typeface="+mn-ea"/>
                <a:cs typeface="+mn-cs"/>
                <a:hlinkClick r:id="rId3"/>
              </a:rPr>
              <a:t>Tenable’s</a:t>
            </a:r>
            <a:r>
              <a:rPr lang="en-US" sz="1200" b="0" u="none" strike="noStrike" kern="1200" dirty="0">
                <a:solidFill>
                  <a:schemeClr val="tx1"/>
                </a:solidFill>
                <a:effectLst/>
                <a:latin typeface="+mn-lt"/>
                <a:ea typeface="+mn-ea"/>
                <a:cs typeface="+mn-cs"/>
                <a:hlinkClick r:id="rId3"/>
              </a:rPr>
              <a:t> Exposure Management Maturity Model</a:t>
            </a:r>
            <a:r>
              <a:rPr lang="en-US" sz="1200" b="0" u="none" strike="noStrike" kern="1200" dirty="0">
                <a:solidFill>
                  <a:schemeClr val="tx1"/>
                </a:solidFill>
                <a:effectLst/>
                <a:latin typeface="+mn-lt"/>
                <a:ea typeface="+mn-ea"/>
                <a:cs typeface="+mn-cs"/>
              </a:rPr>
              <a:t> and </a:t>
            </a:r>
            <a:r>
              <a:rPr lang="en-US" sz="1200" b="0" u="none" strike="noStrike" kern="1200" dirty="0">
                <a:solidFill>
                  <a:schemeClr val="tx1"/>
                </a:solidFill>
                <a:effectLst/>
                <a:latin typeface="+mn-lt"/>
                <a:ea typeface="+mn-ea"/>
                <a:cs typeface="+mn-cs"/>
                <a:hlinkClick r:id="rId4"/>
              </a:rPr>
              <a:t>Recorded Future’s maturity assessment</a:t>
            </a:r>
            <a:r>
              <a:rPr lang="en-US" sz="1200" b="0" u="none" strike="noStrike" kern="1200" dirty="0">
                <a:solidFill>
                  <a:schemeClr val="tx1"/>
                </a:solidFill>
                <a:effectLst/>
                <a:latin typeface="+mn-lt"/>
                <a:ea typeface="+mn-ea"/>
                <a:cs typeface="+mn-cs"/>
              </a:rPr>
              <a:t>, this shift typically follows four or five distinct stages:</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Stages of the Security Maturity Curve</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Ad Hoc / Basic Compliance (Manual Audits)</a:t>
            </a:r>
            <a:endParaRPr lang="en-US" sz="1200" b="0" u="none" strike="noStrike" kern="1200" dirty="0">
              <a:solidFill>
                <a:schemeClr val="tx1"/>
              </a:solidFill>
              <a:effectLst/>
              <a:latin typeface="+mn-lt"/>
              <a:ea typeface="+mn-ea"/>
              <a:cs typeface="+mn-cs"/>
            </a:endParaRPr>
          </a:p>
          <a:p>
            <a:pPr lvl="1"/>
            <a:r>
              <a:rPr lang="en-US" sz="1200" b="1" u="none" strike="noStrike" kern="1200" dirty="0">
                <a:solidFill>
                  <a:schemeClr val="tx1"/>
                </a:solidFill>
                <a:effectLst/>
                <a:latin typeface="+mn-lt"/>
                <a:ea typeface="+mn-ea"/>
                <a:cs typeface="+mn-cs"/>
              </a:rPr>
              <a:t>Focus:</a:t>
            </a:r>
            <a:r>
              <a:rPr lang="en-US" sz="1200" b="0" u="none" strike="noStrike" kern="1200" dirty="0">
                <a:solidFill>
                  <a:schemeClr val="tx1"/>
                </a:solidFill>
                <a:effectLst/>
                <a:latin typeface="+mn-lt"/>
                <a:ea typeface="+mn-ea"/>
                <a:cs typeface="+mn-cs"/>
              </a:rPr>
              <a:t> "Checking the box" for regulatory requirements.</a:t>
            </a:r>
          </a:p>
          <a:p>
            <a:pPr lvl="1"/>
            <a:r>
              <a:rPr lang="en-US" sz="1200" b="1" u="none" strike="noStrike" kern="1200" dirty="0">
                <a:solidFill>
                  <a:schemeClr val="tx1"/>
                </a:solidFill>
                <a:effectLst/>
                <a:latin typeface="+mn-lt"/>
                <a:ea typeface="+mn-ea"/>
                <a:cs typeface="+mn-cs"/>
              </a:rPr>
              <a:t>Characteristics:</a:t>
            </a:r>
            <a:r>
              <a:rPr lang="en-US" sz="1200" b="0" u="none" strike="noStrike" kern="1200" dirty="0">
                <a:solidFill>
                  <a:schemeClr val="tx1"/>
                </a:solidFill>
                <a:effectLst/>
                <a:latin typeface="+mn-lt"/>
                <a:ea typeface="+mn-ea"/>
                <a:cs typeface="+mn-cs"/>
              </a:rPr>
              <a:t> Security is siloed and reactive. Processes rely on manual triage, investigation, and reporting using non-automated tools.</a:t>
            </a:r>
          </a:p>
          <a:p>
            <a:pPr lvl="1"/>
            <a:r>
              <a:rPr lang="en-US" sz="1200" b="1" u="none" strike="noStrike" kern="1200" dirty="0">
                <a:solidFill>
                  <a:schemeClr val="tx1"/>
                </a:solidFill>
                <a:effectLst/>
                <a:latin typeface="+mn-lt"/>
                <a:ea typeface="+mn-ea"/>
                <a:cs typeface="+mn-cs"/>
              </a:rPr>
              <a:t>Outcome:</a:t>
            </a:r>
            <a:r>
              <a:rPr lang="en-US" sz="1200" b="0" u="none" strike="noStrike" kern="1200" dirty="0">
                <a:solidFill>
                  <a:schemeClr val="tx1"/>
                </a:solidFill>
                <a:effectLst/>
                <a:latin typeface="+mn-lt"/>
                <a:ea typeface="+mn-ea"/>
                <a:cs typeface="+mn-cs"/>
              </a:rPr>
              <a:t> Labor-intensive operations where many alerts go uninvestigated.</a:t>
            </a:r>
          </a:p>
          <a:p>
            <a:pPr lvl="1"/>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Defined / Vulnerability Scanning (Initial Automation)</a:t>
            </a:r>
            <a:endParaRPr lang="en-US" sz="1200" b="0" u="none" strike="noStrike" kern="1200" dirty="0">
              <a:solidFill>
                <a:schemeClr val="tx1"/>
              </a:solidFill>
              <a:effectLst/>
              <a:latin typeface="+mn-lt"/>
              <a:ea typeface="+mn-ea"/>
              <a:cs typeface="+mn-cs"/>
            </a:endParaRPr>
          </a:p>
          <a:p>
            <a:pPr lvl="1"/>
            <a:r>
              <a:rPr lang="en-US" sz="1200" b="1" u="none" strike="noStrike" kern="1200" dirty="0">
                <a:solidFill>
                  <a:schemeClr val="tx1"/>
                </a:solidFill>
                <a:effectLst/>
                <a:latin typeface="+mn-lt"/>
                <a:ea typeface="+mn-ea"/>
                <a:cs typeface="+mn-cs"/>
              </a:rPr>
              <a:t>Focus:</a:t>
            </a:r>
            <a:r>
              <a:rPr lang="en-US" sz="1200" b="0" u="none" strike="noStrike" kern="1200" dirty="0">
                <a:solidFill>
                  <a:schemeClr val="tx1"/>
                </a:solidFill>
                <a:effectLst/>
                <a:latin typeface="+mn-lt"/>
                <a:ea typeface="+mn-ea"/>
                <a:cs typeface="+mn-cs"/>
              </a:rPr>
              <a:t> Expanding visibility and establishing baseline policies.</a:t>
            </a:r>
          </a:p>
          <a:p>
            <a:pPr lvl="1"/>
            <a:r>
              <a:rPr lang="en-US" sz="1200" b="1" u="none" strike="noStrike" kern="1200" dirty="0">
                <a:solidFill>
                  <a:schemeClr val="tx1"/>
                </a:solidFill>
                <a:effectLst/>
                <a:latin typeface="+mn-lt"/>
                <a:ea typeface="+mn-ea"/>
                <a:cs typeface="+mn-cs"/>
              </a:rPr>
              <a:t>Characteristics:</a:t>
            </a:r>
            <a:r>
              <a:rPr lang="en-US" sz="1200" b="0" u="none" strike="noStrike" kern="1200" dirty="0">
                <a:solidFill>
                  <a:schemeClr val="tx1"/>
                </a:solidFill>
                <a:effectLst/>
                <a:latin typeface="+mn-lt"/>
                <a:ea typeface="+mn-ea"/>
                <a:cs typeface="+mn-cs"/>
              </a:rPr>
              <a:t> Teams start to automate scans and checks in CI/CD pipelines. Basic project management techniques make successes repeatable.</a:t>
            </a:r>
          </a:p>
          <a:p>
            <a:pPr lvl="1"/>
            <a:r>
              <a:rPr lang="en-US" sz="1200" b="1" u="none" strike="noStrike" kern="1200" dirty="0">
                <a:solidFill>
                  <a:schemeClr val="tx1"/>
                </a:solidFill>
                <a:effectLst/>
                <a:latin typeface="+mn-lt"/>
                <a:ea typeface="+mn-ea"/>
                <a:cs typeface="+mn-cs"/>
              </a:rPr>
              <a:t>Outcome:</a:t>
            </a:r>
            <a:r>
              <a:rPr lang="en-US" sz="1200" b="0" u="none" strike="noStrike" kern="1200" dirty="0">
                <a:solidFill>
                  <a:schemeClr val="tx1"/>
                </a:solidFill>
                <a:effectLst/>
                <a:latin typeface="+mn-lt"/>
                <a:ea typeface="+mn-ea"/>
                <a:cs typeface="+mn-cs"/>
              </a:rPr>
              <a:t> Improved awareness of existing vulnerabilities, though response remains largely manual.</a:t>
            </a:r>
          </a:p>
          <a:p>
            <a:pPr lvl="1"/>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Managed / Continuous Monitoring (Risk-Based)</a:t>
            </a:r>
            <a:endParaRPr lang="en-US" sz="1200" b="0" u="none" strike="noStrike" kern="1200" dirty="0">
              <a:solidFill>
                <a:schemeClr val="tx1"/>
              </a:solidFill>
              <a:effectLst/>
              <a:latin typeface="+mn-lt"/>
              <a:ea typeface="+mn-ea"/>
              <a:cs typeface="+mn-cs"/>
            </a:endParaRPr>
          </a:p>
          <a:p>
            <a:pPr lvl="1"/>
            <a:r>
              <a:rPr lang="en-US" sz="1200" b="1" u="none" strike="noStrike" kern="1200" dirty="0">
                <a:solidFill>
                  <a:schemeClr val="tx1"/>
                </a:solidFill>
                <a:effectLst/>
                <a:latin typeface="+mn-lt"/>
                <a:ea typeface="+mn-ea"/>
                <a:cs typeface="+mn-cs"/>
              </a:rPr>
              <a:t>Focus:</a:t>
            </a:r>
            <a:r>
              <a:rPr lang="en-US" sz="1200" b="0" u="none" strike="noStrike" kern="1200" dirty="0">
                <a:solidFill>
                  <a:schemeClr val="tx1"/>
                </a:solidFill>
                <a:effectLst/>
                <a:latin typeface="+mn-lt"/>
                <a:ea typeface="+mn-ea"/>
                <a:cs typeface="+mn-cs"/>
              </a:rPr>
              <a:t> Contextualizing risks and prioritizing remediation.</a:t>
            </a:r>
          </a:p>
          <a:p>
            <a:pPr lvl="1"/>
            <a:r>
              <a:rPr lang="en-US" sz="1200" b="1" u="none" strike="noStrike" kern="1200" dirty="0">
                <a:solidFill>
                  <a:schemeClr val="tx1"/>
                </a:solidFill>
                <a:effectLst/>
                <a:latin typeface="+mn-lt"/>
                <a:ea typeface="+mn-ea"/>
                <a:cs typeface="+mn-cs"/>
              </a:rPr>
              <a:t>Characteristics:</a:t>
            </a:r>
            <a:r>
              <a:rPr lang="en-US" sz="1200" b="0" u="none" strike="noStrike" kern="1200" dirty="0">
                <a:solidFill>
                  <a:schemeClr val="tx1"/>
                </a:solidFill>
                <a:effectLst/>
                <a:latin typeface="+mn-lt"/>
                <a:ea typeface="+mn-ea"/>
                <a:cs typeface="+mn-cs"/>
              </a:rPr>
              <a:t> HTH can monitor and control our own processes through data collection and analysis. Security becomes embedded into daily workflows rather than just periodic documentation.</a:t>
            </a:r>
          </a:p>
          <a:p>
            <a:pPr lvl="1"/>
            <a:r>
              <a:rPr lang="en-US" sz="1200" b="1" u="none" strike="noStrike" kern="1200" dirty="0">
                <a:solidFill>
                  <a:schemeClr val="tx1"/>
                </a:solidFill>
                <a:effectLst/>
                <a:latin typeface="+mn-lt"/>
                <a:ea typeface="+mn-ea"/>
                <a:cs typeface="+mn-cs"/>
              </a:rPr>
              <a:t>Outcome:</a:t>
            </a:r>
            <a:r>
              <a:rPr lang="en-US" sz="1200" b="0" u="none" strike="noStrike" kern="1200" dirty="0">
                <a:solidFill>
                  <a:schemeClr val="tx1"/>
                </a:solidFill>
                <a:effectLst/>
                <a:latin typeface="+mn-lt"/>
                <a:ea typeface="+mn-ea"/>
                <a:cs typeface="+mn-cs"/>
              </a:rPr>
              <a:t> Faster identification of potential risks before they become formal audit findings.</a:t>
            </a:r>
          </a:p>
          <a:p>
            <a:pPr lvl="1"/>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Optimized / Predictive Exposure Management (Automated &amp; Real-time)</a:t>
            </a:r>
            <a:endParaRPr lang="en-US" sz="1200" b="0" u="none" strike="noStrike" kern="1200" dirty="0">
              <a:solidFill>
                <a:schemeClr val="tx1"/>
              </a:solidFill>
              <a:effectLst/>
              <a:latin typeface="+mn-lt"/>
              <a:ea typeface="+mn-ea"/>
              <a:cs typeface="+mn-cs"/>
            </a:endParaRPr>
          </a:p>
          <a:p>
            <a:pPr lvl="1"/>
            <a:r>
              <a:rPr lang="en-US" sz="1200" b="1" u="none" strike="noStrike" kern="1200" dirty="0">
                <a:solidFill>
                  <a:schemeClr val="tx1"/>
                </a:solidFill>
                <a:effectLst/>
                <a:latin typeface="+mn-lt"/>
                <a:ea typeface="+mn-ea"/>
                <a:cs typeface="+mn-cs"/>
              </a:rPr>
              <a:t>Focus:</a:t>
            </a:r>
            <a:r>
              <a:rPr lang="en-US" sz="1200" b="0" u="none" strike="noStrike" kern="1200" dirty="0">
                <a:solidFill>
                  <a:schemeClr val="tx1"/>
                </a:solidFill>
                <a:effectLst/>
                <a:latin typeface="+mn-lt"/>
                <a:ea typeface="+mn-ea"/>
                <a:cs typeface="+mn-cs"/>
              </a:rPr>
              <a:t> Anticipating and neutralizing threats before exploitation.</a:t>
            </a:r>
          </a:p>
          <a:p>
            <a:pPr lvl="1"/>
            <a:r>
              <a:rPr lang="en-US" sz="1200" b="1" u="none" strike="noStrike" kern="1200" dirty="0">
                <a:solidFill>
                  <a:schemeClr val="tx1"/>
                </a:solidFill>
                <a:effectLst/>
                <a:latin typeface="+mn-lt"/>
                <a:ea typeface="+mn-ea"/>
                <a:cs typeface="+mn-cs"/>
              </a:rPr>
              <a:t>Characteristics:</a:t>
            </a:r>
            <a:r>
              <a:rPr lang="en-US" sz="1200" b="0" u="none" strike="noStrike" kern="1200" dirty="0">
                <a:solidFill>
                  <a:schemeClr val="tx1"/>
                </a:solidFill>
                <a:effectLst/>
                <a:latin typeface="+mn-lt"/>
                <a:ea typeface="+mn-ea"/>
                <a:cs typeface="+mn-cs"/>
              </a:rPr>
              <a:t> Systems use advanced analytics and AI for behavioral learning to predict potential breaches. Control moves from reactive patching to self-healing defense.</a:t>
            </a:r>
          </a:p>
          <a:p>
            <a:pPr lvl="1"/>
            <a:r>
              <a:rPr lang="en-US" sz="1200" b="1" u="none" strike="noStrike" kern="1200" dirty="0">
                <a:solidFill>
                  <a:schemeClr val="tx1"/>
                </a:solidFill>
                <a:effectLst/>
                <a:latin typeface="+mn-lt"/>
                <a:ea typeface="+mn-ea"/>
                <a:cs typeface="+mn-cs"/>
              </a:rPr>
              <a:t>Outcome:</a:t>
            </a:r>
            <a:r>
              <a:rPr lang="en-US" sz="1200" b="0" u="none" strike="noStrike" kern="1200" dirty="0">
                <a:solidFill>
                  <a:schemeClr val="tx1"/>
                </a:solidFill>
                <a:effectLst/>
                <a:latin typeface="+mn-lt"/>
                <a:ea typeface="+mn-ea"/>
                <a:cs typeface="+mn-cs"/>
              </a:rPr>
              <a:t> </a:t>
            </a:r>
            <a:r>
              <a:rPr lang="en-US" sz="1200" b="1" u="none" strike="noStrike" kern="1200" dirty="0">
                <a:solidFill>
                  <a:schemeClr val="tx1"/>
                </a:solidFill>
                <a:effectLst/>
                <a:latin typeface="+mn-lt"/>
                <a:ea typeface="+mn-ea"/>
                <a:cs typeface="+mn-cs"/>
              </a:rPr>
              <a:t>Real-time </a:t>
            </a:r>
            <a:r>
              <a:rPr lang="en-US" sz="1200" b="0" u="none" strike="noStrike" kern="1200" dirty="0">
                <a:solidFill>
                  <a:schemeClr val="tx1"/>
                </a:solidFill>
                <a:effectLst/>
                <a:latin typeface="+mn-lt"/>
                <a:ea typeface="+mn-ea"/>
                <a:cs typeface="+mn-cs"/>
              </a:rPr>
              <a:t>intelligence informs every decision, allowing teams to limit impact quickly and maintain full audit readiness with automated evidence.</a:t>
            </a:r>
          </a:p>
          <a:p>
            <a:endParaRPr lang="en-US" dirty="0"/>
          </a:p>
        </p:txBody>
      </p:sp>
      <p:sp>
        <p:nvSpPr>
          <p:cNvPr id="4" name="Slide Number Placeholder 3"/>
          <p:cNvSpPr>
            <a:spLocks noGrp="1"/>
          </p:cNvSpPr>
          <p:nvPr>
            <p:ph type="sldNum" sz="quarter" idx="5"/>
          </p:nvPr>
        </p:nvSpPr>
        <p:spPr/>
        <p:txBody>
          <a:bodyPr/>
          <a:lstStyle/>
          <a:p>
            <a:fld id="{98B7BF91-43EE-4A13-9DB2-91396105D456}" type="slidenum">
              <a:rPr lang="en-US" smtClean="0"/>
              <a:t>1</a:t>
            </a:fld>
            <a:endParaRPr lang="en-US"/>
          </a:p>
        </p:txBody>
      </p:sp>
    </p:spTree>
    <p:extLst>
      <p:ext uri="{BB962C8B-B14F-4D97-AF65-F5344CB8AC3E}">
        <p14:creationId xmlns:p14="http://schemas.microsoft.com/office/powerpoint/2010/main" val="1906713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illustrates the "Fail-Closed" path where spokes (workloads) lack local Internet Gateways, requiring a tunnel to the central security hub for any external FQDN resolution.</a:t>
            </a:r>
          </a:p>
          <a:p>
            <a:endParaRPr lang="en-US" dirty="0"/>
          </a:p>
          <a:p>
            <a:r>
              <a:rPr lang="en-US" dirty="0"/>
              <a:t>Elimination of Shadow IT: By removing local Internet Gateways (IGWs), developers cannot bypass corporate security policy by spinning up new resources with direct internet access.</a:t>
            </a:r>
          </a:p>
          <a:p>
            <a:endParaRPr lang="en-US" dirty="0"/>
          </a:p>
          <a:p>
            <a:r>
              <a:rPr lang="en-US" dirty="0"/>
              <a:t>Zero Trust Compliance: This aligns with Zero Trust principles where no path is trusted by default; connectivity is a "privilege" granted only after passing through the inspection stack.</a:t>
            </a:r>
          </a:p>
          <a:p>
            <a:endParaRPr lang="en-US" dirty="0"/>
          </a:p>
          <a:p>
            <a:r>
              <a:rPr lang="en-US" dirty="0"/>
              <a:t>Audit Readiness: Because there is only one exit point, Cisco Secure Access provides a consolidated, 100% complete audit log of every external request made by cloud workloads.</a:t>
            </a:r>
          </a:p>
          <a:p>
            <a:endParaRPr lang="en-US" dirty="0"/>
          </a:p>
          <a:p>
            <a:r>
              <a:rPr lang="en-US" sz="1200" b="1" u="none" strike="noStrike" kern="1200" dirty="0">
                <a:solidFill>
                  <a:schemeClr val="tx1"/>
                </a:solidFill>
                <a:effectLst/>
                <a:latin typeface="+mn-lt"/>
                <a:ea typeface="+mn-ea"/>
                <a:cs typeface="+mn-cs"/>
              </a:rPr>
              <a:t>Fail-Closed</a:t>
            </a:r>
            <a:r>
              <a:rPr lang="en-US" sz="1200" b="0" u="none" strike="noStrike" kern="1200" dirty="0">
                <a:solidFill>
                  <a:schemeClr val="tx1"/>
                </a:solidFill>
                <a:effectLst/>
                <a:latin typeface="+mn-lt"/>
                <a:ea typeface="+mn-ea"/>
                <a:cs typeface="+mn-cs"/>
              </a:rPr>
              <a:t> is a security design principle where a system's default state in the event of a failure is to </a:t>
            </a:r>
            <a:r>
              <a:rPr lang="en-US" sz="1200" b="1" u="none" strike="noStrike" kern="1200" dirty="0">
                <a:solidFill>
                  <a:schemeClr val="tx1"/>
                </a:solidFill>
                <a:effectLst/>
                <a:latin typeface="+mn-lt"/>
                <a:ea typeface="+mn-ea"/>
                <a:cs typeface="+mn-cs"/>
              </a:rPr>
              <a:t>deny all access</a:t>
            </a:r>
            <a:r>
              <a:rPr lang="en-US" sz="1200" b="0" u="none" strike="noStrike" kern="1200" dirty="0">
                <a:solidFill>
                  <a:schemeClr val="tx1"/>
                </a:solidFill>
                <a:effectLst/>
                <a:latin typeface="+mn-lt"/>
                <a:ea typeface="+mn-ea"/>
                <a:cs typeface="+mn-cs"/>
              </a:rPr>
              <a:t> rather than allow it.</a:t>
            </a:r>
          </a:p>
          <a:p>
            <a:r>
              <a:rPr lang="en-US" sz="1200" b="0" u="none" strike="noStrike" kern="1200" dirty="0">
                <a:solidFill>
                  <a:schemeClr val="tx1"/>
                </a:solidFill>
                <a:effectLst/>
                <a:latin typeface="+mn-lt"/>
                <a:ea typeface="+mn-ea"/>
                <a:cs typeface="+mn-cs"/>
              </a:rPr>
              <a:t>If the security inspection layer ( Cisco SASE tunnel or Hub) goes offline, the network "fails closed," meaning the connection to the internet is physically severed for all cloud workloads.</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What is it for?</a:t>
            </a:r>
          </a:p>
          <a:p>
            <a:r>
              <a:rPr lang="en-US" sz="1200" b="0" u="none" strike="noStrike" kern="1200" dirty="0">
                <a:solidFill>
                  <a:schemeClr val="tx1"/>
                </a:solidFill>
                <a:effectLst/>
                <a:latin typeface="+mn-lt"/>
                <a:ea typeface="+mn-ea"/>
                <a:cs typeface="+mn-cs"/>
              </a:rPr>
              <a:t>It is a "security-first" safety switch. In the hub-and-spoke model, it ensures that </a:t>
            </a:r>
            <a:r>
              <a:rPr lang="en-US" sz="1200" b="1" u="none" strike="noStrike" kern="1200" dirty="0">
                <a:solidFill>
                  <a:schemeClr val="tx1"/>
                </a:solidFill>
                <a:effectLst/>
                <a:latin typeface="+mn-lt"/>
                <a:ea typeface="+mn-ea"/>
                <a:cs typeface="+mn-cs"/>
              </a:rPr>
              <a:t>uninspected traffic can never leave the environment.</a:t>
            </a:r>
            <a:r>
              <a:rPr lang="en-US" sz="1200" b="0" u="none" strike="noStrike" kern="1200" dirty="0">
                <a:solidFill>
                  <a:schemeClr val="tx1"/>
                </a:solidFill>
                <a:effectLst/>
                <a:latin typeface="+mn-lt"/>
                <a:ea typeface="+mn-ea"/>
                <a:cs typeface="+mn-cs"/>
              </a:rPr>
              <a:t> By removing local Internet Gateways from AWS/Azure spokes, you create a "choke point" at the Central Hub. If that hub cannot verify the safety of a request through Cisco SASE, the request is simply dropped.</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Why it is critical for the Enterprise</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Prevention of "Dark Egress"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In a "Fail-Open" environment, if the security stack fails, traffic bypasses inspection to keep the business running. This creates a window of opportunity for malware to "phone home" to a Command &amp; Control (C2) server or for an attacker to exfiltrate data while the defenses are down. Fail-Closed eliminates this window.</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Absolute Policy Enforcement</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Enterprises in regulated industries (Finance, Healthcare, Gov) cannot afford "best effort" security. Fail-Closed provides a technical guarantee that 100% of outbound traffic is logged and inspected, ensuring no "Shadow IT" or rogue processes can bypass corporate governance.</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Zero Trust Alignment</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Zero Trust assumes that the network is always hostile. A Fail-Closed architecture reinforces this by treating "lack of inspection" as a high-risk event. If the system cannot prove a connection is safe (because the inspection tool is broken), it assumes it is dangerous and blocks it.</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Operational Forcing Function</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Because a failure results in a service outage rather than a silent security breach, it forces the organization to prioritize the health and redundancy of the security stack. It turns a "security problem" into a visible "operational priority," ensuring that the security infrastructure receives the same level of investment and uptime monitoring as the production applications themselves.</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Summary for Executives:</a:t>
            </a:r>
            <a:endParaRPr lang="en-US" sz="1200" b="0" u="none" strike="noStrike" kern="1200" dirty="0">
              <a:solidFill>
                <a:schemeClr val="tx1"/>
              </a:solidFill>
              <a:effectLst/>
              <a:latin typeface="+mn-lt"/>
              <a:ea typeface="+mn-ea"/>
              <a:cs typeface="+mn-cs"/>
            </a:endParaRPr>
          </a:p>
          <a:p>
            <a:r>
              <a:rPr lang="en-US" sz="1200" b="1" i="1" u="none" strike="noStrike" kern="1200" dirty="0">
                <a:solidFill>
                  <a:schemeClr val="tx1"/>
                </a:solidFill>
                <a:effectLst/>
                <a:latin typeface="+mn-lt"/>
                <a:ea typeface="+mn-ea"/>
                <a:cs typeface="+mn-cs"/>
              </a:rPr>
              <a:t>"Fail-Closed means we would rather have a temporary outage that we can fix, than a permanent data breach that we didn't see."</a:t>
            </a:r>
            <a:endParaRPr lang="en-US" sz="1200" b="1"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8B7BF91-43EE-4A13-9DB2-91396105D456}" type="slidenum">
              <a:rPr lang="en-US" smtClean="0"/>
              <a:t>2</a:t>
            </a:fld>
            <a:endParaRPr lang="en-US"/>
          </a:p>
        </p:txBody>
      </p:sp>
    </p:spTree>
    <p:extLst>
      <p:ext uri="{BB962C8B-B14F-4D97-AF65-F5344CB8AC3E}">
        <p14:creationId xmlns:p14="http://schemas.microsoft.com/office/powerpoint/2010/main" val="1766896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Forcing all cloud egress through a Fail-Closed Cisco SASE hub transforms Predictive Risk Management (Tenable VPR) from a static reporting tool into an active enforcement engine. By centralizing the traffic path, </a:t>
            </a:r>
            <a:r>
              <a:rPr lang="en-US" dirty="0" err="1"/>
              <a:t>Tenable’s</a:t>
            </a:r>
            <a:r>
              <a:rPr lang="en-US" dirty="0"/>
              <a:t> Vulnerability Priority Rating (VPR) can be used to dynamically adjust security policies based on real-world exploitability. </a:t>
            </a:r>
          </a:p>
          <a:p>
            <a:endParaRPr lang="en-US" dirty="0"/>
          </a:p>
          <a:p>
            <a:r>
              <a:rPr lang="en-US" dirty="0"/>
              <a:t>For example, if Tenable identifies a high-VPR vulnerability within a specific AWS or Azure workload, the centralized hub can instantly restrict that workload's egress to only "known-good" FQDNs or block its external access entirely until the risk is remediated. This creates a closed-loop system: the predictive intelligence tells you which assets are most likely to be attacked, and the SASE hub provides the immediate, automated "kill switch" or granular filter to neutralize that risk before an exploit can occur.</a:t>
            </a:r>
          </a:p>
          <a:p>
            <a:endParaRPr lang="en-US" dirty="0"/>
          </a:p>
          <a:p>
            <a:r>
              <a:rPr lang="en-US" sz="1200" b="0" u="none" strike="noStrike" kern="1200" dirty="0">
                <a:solidFill>
                  <a:schemeClr val="tx1"/>
                </a:solidFill>
                <a:effectLst/>
                <a:latin typeface="+mn-lt"/>
                <a:ea typeface="+mn-ea"/>
                <a:cs typeface="+mn-cs"/>
              </a:rPr>
              <a:t>Forcing all cloud egress through a </a:t>
            </a:r>
            <a:r>
              <a:rPr lang="en-US" sz="1200" b="1" u="none" strike="noStrike" kern="1200" dirty="0">
                <a:solidFill>
                  <a:schemeClr val="tx1"/>
                </a:solidFill>
                <a:effectLst/>
                <a:latin typeface="+mn-lt"/>
                <a:ea typeface="+mn-ea"/>
                <a:cs typeface="+mn-cs"/>
              </a:rPr>
              <a:t>Fail-Closed Cisco SASE hub</a:t>
            </a:r>
            <a:r>
              <a:rPr lang="en-US" dirty="0"/>
              <a:t> transforms </a:t>
            </a:r>
            <a:r>
              <a:rPr lang="en-US" sz="1200" b="1" u="none" strike="noStrike" kern="1200" dirty="0">
                <a:solidFill>
                  <a:schemeClr val="tx1"/>
                </a:solidFill>
                <a:effectLst/>
                <a:latin typeface="+mn-lt"/>
                <a:ea typeface="+mn-ea"/>
                <a:cs typeface="+mn-cs"/>
              </a:rPr>
              <a:t>Predictive Risk Management (Tenable VPR)</a:t>
            </a:r>
            <a:r>
              <a:rPr lang="en-US" dirty="0"/>
              <a:t> from a static reporting tool into an active enforcement engine. By centralizing the traffic path, </a:t>
            </a:r>
            <a:r>
              <a:rPr lang="en-US" dirty="0" err="1"/>
              <a:t>Tenable’s</a:t>
            </a:r>
            <a:r>
              <a:rPr lang="en-US" dirty="0"/>
              <a:t> </a:t>
            </a:r>
            <a:r>
              <a:rPr lang="en-US" sz="1200" b="1" u="none" strike="noStrike" kern="1200" dirty="0">
                <a:solidFill>
                  <a:schemeClr val="tx1"/>
                </a:solidFill>
                <a:effectLst/>
                <a:latin typeface="+mn-lt"/>
                <a:ea typeface="+mn-ea"/>
                <a:cs typeface="+mn-cs"/>
              </a:rPr>
              <a:t>Vulnerability Priority Rating (VPR)</a:t>
            </a:r>
            <a:r>
              <a:rPr lang="en-US" dirty="0"/>
              <a:t> can be used to dynamically adjust security policies based on real-world exploitability. For example, if Tenable identifies a high-VPR vulnerability within a specific AWS or Azure workload, the centralized hub can instantly restrict that workload's egress to only "known-good" FQDNs or block its external access entirely until the risk is remediated. This creates a </a:t>
            </a:r>
            <a:r>
              <a:rPr lang="en-US" sz="1200" b="1" u="none" strike="noStrike" kern="1200" dirty="0">
                <a:solidFill>
                  <a:schemeClr val="tx1"/>
                </a:solidFill>
                <a:effectLst/>
                <a:latin typeface="+mn-lt"/>
                <a:ea typeface="+mn-ea"/>
                <a:cs typeface="+mn-cs"/>
              </a:rPr>
              <a:t>closed-loop system</a:t>
            </a:r>
            <a:r>
              <a:rPr lang="en-US" dirty="0"/>
              <a:t>: the predictive intelligence tells you which assets are most likely to be attacked, and the SASE hub provides the immediate, automated "kill switch" or granular filter to neutralize that risk before an exploit can occur.</a:t>
            </a:r>
          </a:p>
          <a:p>
            <a:endParaRPr lang="en-US" dirty="0"/>
          </a:p>
          <a:p>
            <a:r>
              <a:rPr lang="en-US" sz="1200" b="1" u="none" strike="noStrike" kern="1200" dirty="0">
                <a:solidFill>
                  <a:schemeClr val="tx1"/>
                </a:solidFill>
                <a:effectLst/>
                <a:latin typeface="+mn-lt"/>
                <a:ea typeface="+mn-ea"/>
                <a:cs typeface="+mn-cs"/>
              </a:rPr>
              <a:t>Why This Matters to Executives</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Speed:</a:t>
            </a:r>
            <a:r>
              <a:rPr lang="en-US" sz="1200" b="0" u="none" strike="noStrike" kern="1200" dirty="0">
                <a:solidFill>
                  <a:schemeClr val="tx1"/>
                </a:solidFill>
                <a:effectLst/>
                <a:latin typeface="+mn-lt"/>
                <a:ea typeface="+mn-ea"/>
                <a:cs typeface="+mn-cs"/>
              </a:rPr>
              <a:t> It moves at "machine speed," neutralizing threats in seconds rather than the hours it takes for a manual ticket.</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Precision:</a:t>
            </a:r>
            <a:r>
              <a:rPr lang="en-US" sz="1200" b="0" u="none" strike="noStrike" kern="1200" dirty="0">
                <a:solidFill>
                  <a:schemeClr val="tx1"/>
                </a:solidFill>
                <a:effectLst/>
                <a:latin typeface="+mn-lt"/>
                <a:ea typeface="+mn-ea"/>
                <a:cs typeface="+mn-cs"/>
              </a:rPr>
              <a:t> By using VPR instead of static scores (CVSS), you avoid "over-isolating" servers for vulnerabilities that aren't actually being exploited in the wild.</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Resilience:</a:t>
            </a:r>
            <a:r>
              <a:rPr lang="en-US" sz="1200" b="0" u="none" strike="noStrike" kern="1200" dirty="0">
                <a:solidFill>
                  <a:schemeClr val="tx1"/>
                </a:solidFill>
                <a:effectLst/>
                <a:latin typeface="+mn-lt"/>
                <a:ea typeface="+mn-ea"/>
                <a:cs typeface="+mn-cs"/>
              </a:rPr>
              <a:t> It ensures that even if a server is compromised, the "Fail-Closed" hub prevents it from becoming a launchpad for further attacks.</a:t>
            </a:r>
          </a:p>
          <a:p>
            <a:endParaRPr lang="en-US" dirty="0"/>
          </a:p>
        </p:txBody>
      </p:sp>
      <p:sp>
        <p:nvSpPr>
          <p:cNvPr id="4" name="Slide Number Placeholder 3"/>
          <p:cNvSpPr>
            <a:spLocks noGrp="1"/>
          </p:cNvSpPr>
          <p:nvPr>
            <p:ph type="sldNum" sz="quarter" idx="5"/>
          </p:nvPr>
        </p:nvSpPr>
        <p:spPr/>
        <p:txBody>
          <a:bodyPr/>
          <a:lstStyle/>
          <a:p>
            <a:fld id="{98B7BF91-43EE-4A13-9DB2-91396105D456}" type="slidenum">
              <a:rPr lang="en-US" smtClean="0"/>
              <a:t>3</a:t>
            </a:fld>
            <a:endParaRPr lang="en-US"/>
          </a:p>
        </p:txBody>
      </p:sp>
    </p:spTree>
    <p:extLst>
      <p:ext uri="{BB962C8B-B14F-4D97-AF65-F5344CB8AC3E}">
        <p14:creationId xmlns:p14="http://schemas.microsoft.com/office/powerpoint/2010/main" val="4169473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A </a:t>
            </a:r>
            <a:r>
              <a:rPr lang="en-US" sz="1200" b="1" u="none" strike="noStrike" kern="1200" dirty="0">
                <a:solidFill>
                  <a:schemeClr val="tx1"/>
                </a:solidFill>
                <a:effectLst/>
                <a:latin typeface="+mn-lt"/>
                <a:ea typeface="+mn-ea"/>
                <a:cs typeface="+mn-cs"/>
              </a:rPr>
              <a:t>Continuous Audit Matrix</a:t>
            </a:r>
            <a:r>
              <a:rPr lang="en-US" sz="1200" b="0" u="none" strike="noStrike" kern="1200" dirty="0">
                <a:solidFill>
                  <a:schemeClr val="tx1"/>
                </a:solidFill>
                <a:effectLst/>
                <a:latin typeface="+mn-lt"/>
                <a:ea typeface="+mn-ea"/>
                <a:cs typeface="+mn-cs"/>
              </a:rPr>
              <a:t> in a Fail-Closed architecture shifts governance from "periodic sampling" to </a:t>
            </a:r>
            <a:r>
              <a:rPr lang="en-US" sz="1200" b="1" u="none" strike="noStrike" kern="1200" dirty="0">
                <a:solidFill>
                  <a:schemeClr val="tx1"/>
                </a:solidFill>
                <a:effectLst/>
                <a:latin typeface="+mn-lt"/>
                <a:ea typeface="+mn-ea"/>
                <a:cs typeface="+mn-cs"/>
              </a:rPr>
              <a:t>"real-time validation."</a:t>
            </a:r>
            <a:r>
              <a:rPr lang="en-US" sz="1200" b="0" u="none" strike="noStrike" kern="1200" dirty="0">
                <a:solidFill>
                  <a:schemeClr val="tx1"/>
                </a:solidFill>
                <a:effectLst/>
                <a:latin typeface="+mn-lt"/>
                <a:ea typeface="+mn-ea"/>
                <a:cs typeface="+mn-cs"/>
              </a:rPr>
              <a:t> By centralizing all traffic through a Cisco SASE hub and integrating Tenable VPR, the audit trail is no longer a manual collection of logs; it is an automated stream of evidence that proves every control is functioning as intended, 24/7.</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The Governance Impact: From "Checklist" to "Matrix“</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Automated Evidence Collection:</a:t>
            </a:r>
            <a:r>
              <a:rPr lang="en-US" sz="1200" b="0" u="none" strike="noStrike" kern="1200" dirty="0">
                <a:solidFill>
                  <a:schemeClr val="tx1"/>
                </a:solidFill>
                <a:effectLst/>
                <a:latin typeface="+mn-lt"/>
                <a:ea typeface="+mn-ea"/>
                <a:cs typeface="+mn-cs"/>
              </a:rPr>
              <a:t> Traditional audits rely on periodic screenshots. In this model, the </a:t>
            </a:r>
            <a:r>
              <a:rPr lang="en-US" sz="1200" b="1" u="none" strike="noStrike" kern="1200" dirty="0">
                <a:solidFill>
                  <a:schemeClr val="tx1"/>
                </a:solidFill>
                <a:effectLst/>
                <a:latin typeface="+mn-lt"/>
                <a:ea typeface="+mn-ea"/>
                <a:cs typeface="+mn-cs"/>
              </a:rPr>
              <a:t>Cisco SASE Hub</a:t>
            </a:r>
            <a:r>
              <a:rPr lang="en-US" sz="1200" b="0" u="none" strike="noStrike" kern="1200" dirty="0">
                <a:solidFill>
                  <a:schemeClr val="tx1"/>
                </a:solidFill>
                <a:effectLst/>
                <a:latin typeface="+mn-lt"/>
                <a:ea typeface="+mn-ea"/>
                <a:cs typeface="+mn-cs"/>
              </a:rPr>
              <a:t> provides a 100% complete log of all egress attempts, while </a:t>
            </a:r>
            <a:r>
              <a:rPr lang="en-US" sz="1200" b="1" u="none" strike="noStrike" kern="1200" dirty="0">
                <a:solidFill>
                  <a:schemeClr val="tx1"/>
                </a:solidFill>
                <a:effectLst/>
                <a:latin typeface="+mn-lt"/>
                <a:ea typeface="+mn-ea"/>
                <a:cs typeface="+mn-cs"/>
              </a:rPr>
              <a:t>Tenable VPR</a:t>
            </a:r>
            <a:r>
              <a:rPr lang="en-US" sz="1200" b="0" u="none" strike="noStrike" kern="1200" dirty="0">
                <a:solidFill>
                  <a:schemeClr val="tx1"/>
                </a:solidFill>
                <a:effectLst/>
                <a:latin typeface="+mn-lt"/>
                <a:ea typeface="+mn-ea"/>
                <a:cs typeface="+mn-cs"/>
              </a:rPr>
              <a:t> provides real-time risk scores. This creates a "Self-Auditing" environment where compliance is a byproduct of the architecture.</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Enforcement as Governance:</a:t>
            </a:r>
            <a:r>
              <a:rPr lang="en-US" sz="1200" b="0" u="none" strike="noStrike" kern="1200" dirty="0">
                <a:solidFill>
                  <a:schemeClr val="tx1"/>
                </a:solidFill>
                <a:effectLst/>
                <a:latin typeface="+mn-lt"/>
                <a:ea typeface="+mn-ea"/>
                <a:cs typeface="+mn-cs"/>
              </a:rPr>
              <a:t> "Fail-Closed" is the ultimate governance control. It ensures that if the security policy cannot be verified (e.g., the hub is down), the data cannot leave. This meets "Duty of Care" standards by design, rather than by human oversight.</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Predictive Compliance:</a:t>
            </a:r>
            <a:r>
              <a:rPr lang="en-US" sz="1200" b="0" u="none" strike="noStrike" kern="1200" dirty="0">
                <a:solidFill>
                  <a:schemeClr val="tx1"/>
                </a:solidFill>
                <a:effectLst/>
                <a:latin typeface="+mn-lt"/>
                <a:ea typeface="+mn-ea"/>
                <a:cs typeface="+mn-cs"/>
              </a:rPr>
              <a:t> By tracking </a:t>
            </a:r>
            <a:r>
              <a:rPr lang="en-US" sz="1200" b="1" u="none" strike="noStrike" kern="1200" dirty="0">
                <a:solidFill>
                  <a:schemeClr val="tx1"/>
                </a:solidFill>
                <a:effectLst/>
                <a:latin typeface="+mn-lt"/>
                <a:ea typeface="+mn-ea"/>
                <a:cs typeface="+mn-cs"/>
              </a:rPr>
              <a:t>Control Drift</a:t>
            </a:r>
            <a:r>
              <a:rPr lang="en-US" sz="1200" b="0" u="none" strike="noStrike" kern="1200" dirty="0">
                <a:solidFill>
                  <a:schemeClr val="tx1"/>
                </a:solidFill>
                <a:effectLst/>
                <a:latin typeface="+mn-lt"/>
                <a:ea typeface="+mn-ea"/>
                <a:cs typeface="+mn-cs"/>
              </a:rPr>
              <a:t> and </a:t>
            </a:r>
            <a:r>
              <a:rPr lang="en-US" sz="1200" b="1" u="none" strike="noStrike" kern="1200" dirty="0">
                <a:solidFill>
                  <a:schemeClr val="tx1"/>
                </a:solidFill>
                <a:effectLst/>
                <a:latin typeface="+mn-lt"/>
                <a:ea typeface="+mn-ea"/>
                <a:cs typeface="+mn-cs"/>
              </a:rPr>
              <a:t>Egress Block Rates</a:t>
            </a:r>
            <a:r>
              <a:rPr lang="en-US" sz="1200" b="0" u="none" strike="noStrike" kern="1200" dirty="0">
                <a:solidFill>
                  <a:schemeClr val="tx1"/>
                </a:solidFill>
                <a:effectLst/>
                <a:latin typeface="+mn-lt"/>
                <a:ea typeface="+mn-ea"/>
                <a:cs typeface="+mn-cs"/>
              </a:rPr>
              <a:t>, the matrix moves from identifying </a:t>
            </a:r>
            <a:r>
              <a:rPr lang="en-US" sz="1200" b="0" i="1" u="none" strike="noStrike" kern="1200" dirty="0">
                <a:solidFill>
                  <a:schemeClr val="tx1"/>
                </a:solidFill>
                <a:effectLst/>
                <a:latin typeface="+mn-lt"/>
                <a:ea typeface="+mn-ea"/>
                <a:cs typeface="+mn-cs"/>
              </a:rPr>
              <a:t>what happened</a:t>
            </a:r>
            <a:r>
              <a:rPr lang="en-US" sz="1200" b="0" u="none" strike="noStrike" kern="1200" dirty="0">
                <a:solidFill>
                  <a:schemeClr val="tx1"/>
                </a:solidFill>
                <a:effectLst/>
                <a:latin typeface="+mn-lt"/>
                <a:ea typeface="+mn-ea"/>
                <a:cs typeface="+mn-cs"/>
              </a:rPr>
              <a:t> to predicting </a:t>
            </a:r>
            <a:r>
              <a:rPr lang="en-US" sz="1200" b="0" i="1" u="none" strike="noStrike" kern="1200" dirty="0">
                <a:solidFill>
                  <a:schemeClr val="tx1"/>
                </a:solidFill>
                <a:effectLst/>
                <a:latin typeface="+mn-lt"/>
                <a:ea typeface="+mn-ea"/>
                <a:cs typeface="+mn-cs"/>
              </a:rPr>
              <a:t>where we are weak</a:t>
            </a:r>
            <a:r>
              <a:rPr lang="en-US" sz="1200" b="0" u="none" strike="noStrike" kern="1200" dirty="0">
                <a:solidFill>
                  <a:schemeClr val="tx1"/>
                </a:solidFill>
                <a:effectLst/>
                <a:latin typeface="+mn-lt"/>
                <a:ea typeface="+mn-ea"/>
                <a:cs typeface="+mn-cs"/>
              </a:rPr>
              <a:t>.</a:t>
            </a:r>
          </a:p>
          <a:p>
            <a:endParaRPr lang="en-US" dirty="0"/>
          </a:p>
          <a:p>
            <a:endParaRPr lang="en-US" dirty="0"/>
          </a:p>
          <a:p>
            <a:r>
              <a:rPr lang="en-US" dirty="0"/>
              <a:t>Our governance model</a:t>
            </a:r>
            <a:r>
              <a:rPr lang="en-US" baseline="0" dirty="0"/>
              <a:t> is </a:t>
            </a:r>
            <a:r>
              <a:rPr lang="en-US" dirty="0"/>
              <a:t>evolving from </a:t>
            </a:r>
            <a:r>
              <a:rPr lang="en-US" sz="1200" b="1" u="none" strike="noStrike" kern="1200" dirty="0">
                <a:solidFill>
                  <a:schemeClr val="tx1"/>
                </a:solidFill>
                <a:effectLst/>
                <a:latin typeface="+mn-lt"/>
                <a:ea typeface="+mn-ea"/>
                <a:cs typeface="+mn-cs"/>
              </a:rPr>
              <a:t>backward-looking reports</a:t>
            </a:r>
            <a:r>
              <a:rPr lang="en-US" dirty="0"/>
              <a:t> to a </a:t>
            </a:r>
            <a:r>
              <a:rPr lang="en-US" sz="1200" b="1" u="none" strike="noStrike" kern="1200" dirty="0">
                <a:solidFill>
                  <a:schemeClr val="tx1"/>
                </a:solidFill>
                <a:effectLst/>
                <a:latin typeface="+mn-lt"/>
                <a:ea typeface="+mn-ea"/>
                <a:cs typeface="+mn-cs"/>
              </a:rPr>
              <a:t>Continuous Audit Matrix</a:t>
            </a:r>
            <a:r>
              <a:rPr lang="en-US" dirty="0"/>
              <a:t>. Because our cloud spokes lacked local internet paths, every single outbound packet was an audited event. The integration with Tenable VPR allows us to audit not just the existence of a vulnerability, but our immediate, automated response to it. We don't just 'hope' we are compliant; the </a:t>
            </a:r>
            <a:r>
              <a:rPr lang="en-US" sz="1200" b="1" u="none" strike="noStrike" kern="1200" dirty="0">
                <a:solidFill>
                  <a:schemeClr val="tx1"/>
                </a:solidFill>
                <a:effectLst/>
                <a:latin typeface="+mn-lt"/>
                <a:ea typeface="+mn-ea"/>
                <a:cs typeface="+mn-cs"/>
              </a:rPr>
              <a:t>Fail-Closed</a:t>
            </a:r>
            <a:r>
              <a:rPr lang="en-US" dirty="0"/>
              <a:t> architecture makes it mathematically impossible for an uninspected egress to occur without leaving a trace.</a:t>
            </a:r>
          </a:p>
        </p:txBody>
      </p:sp>
      <p:sp>
        <p:nvSpPr>
          <p:cNvPr id="4" name="Slide Number Placeholder 3"/>
          <p:cNvSpPr>
            <a:spLocks noGrp="1"/>
          </p:cNvSpPr>
          <p:nvPr>
            <p:ph type="sldNum" sz="quarter" idx="5"/>
          </p:nvPr>
        </p:nvSpPr>
        <p:spPr/>
        <p:txBody>
          <a:bodyPr/>
          <a:lstStyle/>
          <a:p>
            <a:fld id="{98B7BF91-43EE-4A13-9DB2-91396105D456}" type="slidenum">
              <a:rPr lang="en-US" smtClean="0"/>
              <a:t>4</a:t>
            </a:fld>
            <a:endParaRPr lang="en-US"/>
          </a:p>
        </p:txBody>
      </p:sp>
    </p:spTree>
    <p:extLst>
      <p:ext uri="{BB962C8B-B14F-4D97-AF65-F5344CB8AC3E}">
        <p14:creationId xmlns:p14="http://schemas.microsoft.com/office/powerpoint/2010/main" val="2411344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When you integrate </a:t>
            </a:r>
            <a:r>
              <a:rPr lang="en-US" sz="1200" b="1" u="none" strike="noStrike" kern="1200" dirty="0">
                <a:solidFill>
                  <a:schemeClr val="tx1"/>
                </a:solidFill>
                <a:effectLst/>
                <a:latin typeface="+mn-lt"/>
                <a:ea typeface="+mn-ea"/>
                <a:cs typeface="+mn-cs"/>
              </a:rPr>
              <a:t>Cisco SASE</a:t>
            </a:r>
            <a:r>
              <a:rPr lang="en-US" sz="1200" b="0" u="none" strike="noStrike" kern="1200" dirty="0">
                <a:solidFill>
                  <a:schemeClr val="tx1"/>
                </a:solidFill>
                <a:effectLst/>
                <a:latin typeface="+mn-lt"/>
                <a:ea typeface="+mn-ea"/>
                <a:cs typeface="+mn-cs"/>
              </a:rPr>
              <a:t> with </a:t>
            </a:r>
            <a:r>
              <a:rPr lang="en-US" sz="1200" b="1" u="none" strike="noStrike" kern="1200" dirty="0">
                <a:solidFill>
                  <a:schemeClr val="tx1"/>
                </a:solidFill>
                <a:effectLst/>
                <a:latin typeface="+mn-lt"/>
                <a:ea typeface="+mn-ea"/>
                <a:cs typeface="+mn-cs"/>
              </a:rPr>
              <a:t>Tenable Vulnerability Management</a:t>
            </a:r>
            <a:r>
              <a:rPr lang="en-US" sz="1200" b="0" u="none" strike="noStrike" kern="1200" dirty="0">
                <a:solidFill>
                  <a:schemeClr val="tx1"/>
                </a:solidFill>
                <a:effectLst/>
                <a:latin typeface="+mn-lt"/>
                <a:ea typeface="+mn-ea"/>
                <a:cs typeface="+mn-cs"/>
              </a:rPr>
              <a:t> and baseline monitoring, you move from "passive filtering" to </a:t>
            </a:r>
            <a:r>
              <a:rPr lang="en-US" sz="1200" b="1" u="none" strike="noStrike" kern="1200" dirty="0">
                <a:solidFill>
                  <a:schemeClr val="tx1"/>
                </a:solidFill>
                <a:effectLst/>
                <a:latin typeface="+mn-lt"/>
                <a:ea typeface="+mn-ea"/>
                <a:cs typeface="+mn-cs"/>
              </a:rPr>
              <a:t>Identity-Aware Egress Integrity</a:t>
            </a:r>
            <a:r>
              <a:rPr lang="en-US" sz="1200" b="0" u="none" strike="noStrike" kern="1200" dirty="0">
                <a:solidFill>
                  <a:schemeClr val="tx1"/>
                </a:solidFill>
                <a:effectLst/>
                <a:latin typeface="+mn-lt"/>
                <a:ea typeface="+mn-ea"/>
                <a:cs typeface="+mn-cs"/>
              </a:rPr>
              <a:t>. This creates a multi-layered defense where network connectivity is tied directly to the health of the asset.</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How it Protects the Enterprise</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1. Context-Aware Egress Integrity</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In a standard environment, a server is either "allowed" to the internet or not. In this integrated model, the </a:t>
            </a:r>
            <a:r>
              <a:rPr lang="en-US" sz="1200" b="1" u="none" strike="noStrike" kern="1200" dirty="0">
                <a:solidFill>
                  <a:schemeClr val="tx1"/>
                </a:solidFill>
                <a:effectLst/>
                <a:latin typeface="+mn-lt"/>
                <a:ea typeface="+mn-ea"/>
                <a:cs typeface="+mn-cs"/>
              </a:rPr>
              <a:t>SASE Hub</a:t>
            </a:r>
            <a:r>
              <a:rPr lang="en-US" sz="1200" b="0" u="none" strike="noStrike" kern="1200" dirty="0">
                <a:solidFill>
                  <a:schemeClr val="tx1"/>
                </a:solidFill>
                <a:effectLst/>
                <a:latin typeface="+mn-lt"/>
                <a:ea typeface="+mn-ea"/>
                <a:cs typeface="+mn-cs"/>
              </a:rPr>
              <a:t> asks a crucial question before every connection: </a:t>
            </a:r>
            <a:r>
              <a:rPr lang="en-US" sz="1200" b="0" i="1" u="none" strike="noStrike" kern="1200" dirty="0">
                <a:solidFill>
                  <a:schemeClr val="tx1"/>
                </a:solidFill>
                <a:effectLst/>
                <a:latin typeface="+mn-lt"/>
                <a:ea typeface="+mn-ea"/>
                <a:cs typeface="+mn-cs"/>
              </a:rPr>
              <a:t>"What is the current health of this requester?"</a:t>
            </a:r>
            <a:r>
              <a:rPr lang="en-US" sz="1200" b="0" u="none" strike="noStrike" kern="1200" dirty="0">
                <a:solidFill>
                  <a:schemeClr val="tx1"/>
                </a:solidFill>
                <a:effectLst/>
                <a:latin typeface="+mn-lt"/>
                <a:ea typeface="+mn-ea"/>
                <a:cs typeface="+mn-cs"/>
              </a:rPr>
              <a:t> If Tenable reports a high </a:t>
            </a:r>
            <a:r>
              <a:rPr lang="en-US" sz="1200" b="1" u="none" strike="noStrike" kern="1200" dirty="0">
                <a:solidFill>
                  <a:schemeClr val="tx1"/>
                </a:solidFill>
                <a:effectLst/>
                <a:latin typeface="+mn-lt"/>
                <a:ea typeface="+mn-ea"/>
                <a:cs typeface="+mn-cs"/>
              </a:rPr>
              <a:t>VPR score</a:t>
            </a:r>
            <a:r>
              <a:rPr lang="en-US" sz="1200" b="0" u="none" strike="noStrike" kern="1200" dirty="0">
                <a:solidFill>
                  <a:schemeClr val="tx1"/>
                </a:solidFill>
                <a:effectLst/>
                <a:latin typeface="+mn-lt"/>
                <a:ea typeface="+mn-ea"/>
                <a:cs typeface="+mn-cs"/>
              </a:rPr>
              <a:t> or a deviation from the </a:t>
            </a:r>
            <a:r>
              <a:rPr lang="en-US" sz="1200" b="1" u="none" strike="noStrike" kern="1200" dirty="0">
                <a:solidFill>
                  <a:schemeClr val="tx1"/>
                </a:solidFill>
                <a:effectLst/>
                <a:latin typeface="+mn-lt"/>
                <a:ea typeface="+mn-ea"/>
                <a:cs typeface="+mn-cs"/>
              </a:rPr>
              <a:t>Security Baseline</a:t>
            </a:r>
            <a:r>
              <a:rPr lang="en-US" sz="1200" b="0" u="none" strike="noStrike" kern="1200" dirty="0">
                <a:solidFill>
                  <a:schemeClr val="tx1"/>
                </a:solidFill>
                <a:effectLst/>
                <a:latin typeface="+mn-lt"/>
                <a:ea typeface="+mn-ea"/>
                <a:cs typeface="+mn-cs"/>
              </a:rPr>
              <a:t> (like an unauthorized open port), the SASE hub treats that egress attempt as a potential compromise. It doesn't just block based on the </a:t>
            </a:r>
            <a:r>
              <a:rPr lang="en-US" sz="1200" b="0" i="1" u="none" strike="noStrike" kern="1200" dirty="0">
                <a:solidFill>
                  <a:schemeClr val="tx1"/>
                </a:solidFill>
                <a:effectLst/>
                <a:latin typeface="+mn-lt"/>
                <a:ea typeface="+mn-ea"/>
                <a:cs typeface="+mn-cs"/>
              </a:rPr>
              <a:t>destination</a:t>
            </a:r>
            <a:r>
              <a:rPr lang="en-US" sz="1200" b="0" u="none" strike="noStrike" kern="1200" dirty="0">
                <a:solidFill>
                  <a:schemeClr val="tx1"/>
                </a:solidFill>
                <a:effectLst/>
                <a:latin typeface="+mn-lt"/>
                <a:ea typeface="+mn-ea"/>
                <a:cs typeface="+mn-cs"/>
              </a:rPr>
              <a:t>; it blocks based on the </a:t>
            </a:r>
            <a:r>
              <a:rPr lang="en-US" sz="1200" b="0" i="1" u="none" strike="noStrike" kern="1200" dirty="0">
                <a:solidFill>
                  <a:schemeClr val="tx1"/>
                </a:solidFill>
                <a:effectLst/>
                <a:latin typeface="+mn-lt"/>
                <a:ea typeface="+mn-ea"/>
                <a:cs typeface="+mn-cs"/>
              </a:rPr>
              <a:t>deteriorated integrity</a:t>
            </a:r>
            <a:r>
              <a:rPr lang="en-US" sz="1200" b="0" u="none" strike="noStrike" kern="1200" dirty="0">
                <a:solidFill>
                  <a:schemeClr val="tx1"/>
                </a:solidFill>
                <a:effectLst/>
                <a:latin typeface="+mn-lt"/>
                <a:ea typeface="+mn-ea"/>
                <a:cs typeface="+mn-cs"/>
              </a:rPr>
              <a:t> of the source.</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2. Data Exfiltration "Kill-Switch"</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Data exfiltration often happens through stealthy, low-and-slow connections to reputable cloud storage or encrypted "gray" sites. By forcing all traffic through the SASE hub, you apply </a:t>
            </a:r>
            <a:r>
              <a:rPr lang="en-US" sz="1200" b="1" u="none" strike="noStrike" kern="1200" dirty="0">
                <a:solidFill>
                  <a:schemeClr val="tx1"/>
                </a:solidFill>
                <a:effectLst/>
                <a:latin typeface="+mn-lt"/>
                <a:ea typeface="+mn-ea"/>
                <a:cs typeface="+mn-cs"/>
              </a:rPr>
              <a:t>DLP (Data Loss Prevention)</a:t>
            </a:r>
            <a:r>
              <a:rPr lang="en-US" sz="1200" b="0" u="none" strike="noStrike" kern="1200" dirty="0">
                <a:solidFill>
                  <a:schemeClr val="tx1"/>
                </a:solidFill>
                <a:effectLst/>
                <a:latin typeface="+mn-lt"/>
                <a:ea typeface="+mn-ea"/>
                <a:cs typeface="+mn-cs"/>
              </a:rPr>
              <a:t> and </a:t>
            </a:r>
            <a:r>
              <a:rPr lang="en-US" sz="1200" b="1" u="none" strike="noStrike" kern="1200" dirty="0">
                <a:solidFill>
                  <a:schemeClr val="tx1"/>
                </a:solidFill>
                <a:effectLst/>
                <a:latin typeface="+mn-lt"/>
                <a:ea typeface="+mn-ea"/>
                <a:cs typeface="+mn-cs"/>
              </a:rPr>
              <a:t>TLS Decryption</a:t>
            </a:r>
            <a:r>
              <a:rPr lang="en-US" sz="1200" b="0" u="none" strike="noStrike" kern="1200" dirty="0">
                <a:solidFill>
                  <a:schemeClr val="tx1"/>
                </a:solidFill>
                <a:effectLst/>
                <a:latin typeface="+mn-lt"/>
                <a:ea typeface="+mn-ea"/>
                <a:cs typeface="+mn-cs"/>
              </a:rPr>
              <a:t> at the only exit point. If Tenable flags a workload as "At Risk," the SASE policy can automatically tighten—switching from "Allow Business Apps" to "Strict Restricted," effectively killing any exfiltration path before the data can be moved.</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3. Baseline-Driven Anomaly Detection</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Continuous baseline monitoring establishes a "DNA profile" for the AWS/Azure workloads. If a workload suddenly attempts to connect to an external FQDN it has never visited, or via a protocol not in its baseline, the SASE hub triggers an immediate block. Because the architecture is </a:t>
            </a:r>
            <a:r>
              <a:rPr lang="en-US" sz="1200" b="1" u="none" strike="noStrike" kern="1200" dirty="0">
                <a:solidFill>
                  <a:schemeClr val="tx1"/>
                </a:solidFill>
                <a:effectLst/>
                <a:latin typeface="+mn-lt"/>
                <a:ea typeface="+mn-ea"/>
                <a:cs typeface="+mn-cs"/>
              </a:rPr>
              <a:t>Fail-Closed</a:t>
            </a:r>
            <a:r>
              <a:rPr lang="en-US" sz="1200" b="0" u="none" strike="noStrike" kern="1200" dirty="0">
                <a:solidFill>
                  <a:schemeClr val="tx1"/>
                </a:solidFill>
                <a:effectLst/>
                <a:latin typeface="+mn-lt"/>
                <a:ea typeface="+mn-ea"/>
                <a:cs typeface="+mn-cs"/>
              </a:rPr>
              <a:t>, there is no "dark path" for this traffic to take; it is forced into the inspection engine where the anomaly is caught.</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4. Predictive Response to Zero-Days</a:t>
            </a:r>
            <a:br>
              <a:rPr lang="en-US" sz="1200" b="0" u="none" strike="noStrike" kern="1200" dirty="0">
                <a:solidFill>
                  <a:schemeClr val="tx1"/>
                </a:solidFill>
                <a:effectLst/>
                <a:latin typeface="+mn-lt"/>
                <a:ea typeface="+mn-ea"/>
                <a:cs typeface="+mn-cs"/>
              </a:rPr>
            </a:br>
            <a:r>
              <a:rPr lang="en-US" sz="1200" b="0" u="none" strike="noStrike" kern="1200" dirty="0">
                <a:solidFill>
                  <a:schemeClr val="tx1"/>
                </a:solidFill>
                <a:effectLst/>
                <a:latin typeface="+mn-lt"/>
                <a:ea typeface="+mn-ea"/>
                <a:cs typeface="+mn-cs"/>
              </a:rPr>
              <a:t>When a new high-priority vulnerability is released, Tenable updates the VPR score globally. The integrated SASE hub can proactively </a:t>
            </a:r>
            <a:r>
              <a:rPr lang="en-US" sz="1200" b="1" u="none" strike="noStrike" kern="1200" dirty="0">
                <a:solidFill>
                  <a:schemeClr val="tx1"/>
                </a:solidFill>
                <a:effectLst/>
                <a:latin typeface="+mn-lt"/>
                <a:ea typeface="+mn-ea"/>
                <a:cs typeface="+mn-cs"/>
              </a:rPr>
              <a:t>"Shield"</a:t>
            </a:r>
            <a:r>
              <a:rPr lang="en-US" sz="1200" b="0" u="none" strike="noStrike" kern="1200" dirty="0">
                <a:solidFill>
                  <a:schemeClr val="tx1"/>
                </a:solidFill>
                <a:effectLst/>
                <a:latin typeface="+mn-lt"/>
                <a:ea typeface="+mn-ea"/>
                <a:cs typeface="+mn-cs"/>
              </a:rPr>
              <a:t> vulnerable workloads by blocking the specific ports or protocols associated with that new threat across the entire cloud fabric simultaneously. This buys the team time to patch without leaving the data exposed to exfiltration.</a:t>
            </a:r>
          </a:p>
          <a:p>
            <a:endParaRPr lang="en-US" sz="1200" b="1" u="none" strike="noStrike" kern="1200" dirty="0">
              <a:solidFill>
                <a:schemeClr val="tx1"/>
              </a:solidFill>
              <a:effectLst/>
              <a:latin typeface="+mn-lt"/>
              <a:ea typeface="+mn-ea"/>
              <a:cs typeface="+mn-cs"/>
            </a:endParaRPr>
          </a:p>
          <a:p>
            <a:endParaRPr lang="en-US" sz="1200" b="0" u="none" strike="noStrike" kern="1200" dirty="0">
              <a:solidFill>
                <a:schemeClr val="tx1"/>
              </a:solidFill>
              <a:effectLst/>
              <a:latin typeface="+mn-lt"/>
              <a:ea typeface="+mn-ea"/>
              <a:cs typeface="+mn-cs"/>
            </a:endParaRPr>
          </a:p>
          <a:p>
            <a:r>
              <a:rPr lang="en-US" sz="1200" b="0" i="1" u="none" strike="noStrike" kern="1200" dirty="0">
                <a:solidFill>
                  <a:schemeClr val="tx1"/>
                </a:solidFill>
                <a:effectLst/>
                <a:latin typeface="+mn-lt"/>
                <a:ea typeface="+mn-ea"/>
                <a:cs typeface="+mn-cs"/>
              </a:rPr>
              <a:t>"We are synchronizing</a:t>
            </a:r>
            <a:r>
              <a:rPr lang="en-US" sz="1200" b="0" i="1" u="none" strike="noStrike" kern="1200" baseline="0" dirty="0">
                <a:solidFill>
                  <a:schemeClr val="tx1"/>
                </a:solidFill>
                <a:effectLst/>
                <a:latin typeface="+mn-lt"/>
                <a:ea typeface="+mn-ea"/>
                <a:cs typeface="+mn-cs"/>
              </a:rPr>
              <a:t> </a:t>
            </a:r>
            <a:r>
              <a:rPr lang="en-US" sz="1200" b="0" i="1" u="none" strike="noStrike" kern="1200" dirty="0">
                <a:solidFill>
                  <a:schemeClr val="tx1"/>
                </a:solidFill>
                <a:effectLst/>
                <a:latin typeface="+mn-lt"/>
                <a:ea typeface="+mn-ea"/>
                <a:cs typeface="+mn-cs"/>
              </a:rPr>
              <a:t>our 'Security Brain' (Tenable) with our 'Security Gateway' (SASE). If an asset becomes risky or drifts from its baseline, its ability to send data out can be automatically revoked. We aren't just watching for bad destinations; we are ensuring that only healthy, compliant workloads are allowed to communicate with the world."</a:t>
            </a:r>
            <a:endParaRPr lang="en-US" sz="1200" b="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8B7BF91-43EE-4A13-9DB2-91396105D456}" type="slidenum">
              <a:rPr lang="en-US" smtClean="0"/>
              <a:t>5</a:t>
            </a:fld>
            <a:endParaRPr lang="en-US"/>
          </a:p>
        </p:txBody>
      </p:sp>
    </p:spTree>
    <p:extLst>
      <p:ext uri="{BB962C8B-B14F-4D97-AF65-F5344CB8AC3E}">
        <p14:creationId xmlns:p14="http://schemas.microsoft.com/office/powerpoint/2010/main" val="129747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none" strike="noStrike" kern="1200" dirty="0">
                <a:solidFill>
                  <a:schemeClr val="tx1"/>
                </a:solidFill>
                <a:effectLst/>
                <a:latin typeface="+mn-lt"/>
                <a:ea typeface="+mn-ea"/>
                <a:cs typeface="+mn-cs"/>
              </a:rPr>
              <a:t>The "Big Four" Hardening Benchmarks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 a </a:t>
            </a:r>
            <a:r>
              <a:rPr lang="en-US" sz="1200" b="1" u="none" strike="noStrike" kern="1200" dirty="0">
                <a:solidFill>
                  <a:schemeClr val="tx1"/>
                </a:solidFill>
                <a:effectLst/>
                <a:latin typeface="+mn-lt"/>
                <a:ea typeface="+mn-ea"/>
                <a:cs typeface="+mn-cs"/>
              </a:rPr>
              <a:t>Fail-Closed</a:t>
            </a:r>
            <a:r>
              <a:rPr lang="en-US" sz="1200" b="0" u="none" strike="noStrike" kern="1200" dirty="0">
                <a:solidFill>
                  <a:schemeClr val="tx1"/>
                </a:solidFill>
                <a:effectLst/>
                <a:latin typeface="+mn-lt"/>
                <a:ea typeface="+mn-ea"/>
                <a:cs typeface="+mn-cs"/>
              </a:rPr>
              <a:t> environment, these metrics prove that security isn't just a barrier, but a measurable operational standard.</a:t>
            </a:r>
          </a:p>
          <a:p>
            <a:endParaRPr lang="en-US" sz="1200" b="1" u="none" strike="noStrike" kern="1200" dirty="0">
              <a:solidFill>
                <a:schemeClr val="tx1"/>
              </a:solidFill>
              <a:effectLst/>
              <a:latin typeface="+mn-lt"/>
              <a:ea typeface="+mn-ea"/>
              <a:cs typeface="+mn-cs"/>
            </a:endParaRP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MTTR (Mean Time to Remediate):</a:t>
            </a:r>
            <a:r>
              <a:rPr lang="en-US" sz="1200" b="0" u="none" strike="noStrike" kern="1200" dirty="0">
                <a:solidFill>
                  <a:schemeClr val="tx1"/>
                </a:solidFill>
                <a:effectLst/>
                <a:latin typeface="+mn-lt"/>
                <a:ea typeface="+mn-ea"/>
                <a:cs typeface="+mn-cs"/>
              </a:rPr>
              <a:t> Measures the speed of the automated response. By moving to a SASE-integrated model, the goal is to drive MTTR down from days to </a:t>
            </a:r>
            <a:r>
              <a:rPr lang="en-US" sz="1200" b="1" u="none" strike="noStrike" kern="1200" dirty="0">
                <a:solidFill>
                  <a:schemeClr val="tx1"/>
                </a:solidFill>
                <a:effectLst/>
                <a:latin typeface="+mn-lt"/>
                <a:ea typeface="+mn-ea"/>
                <a:cs typeface="+mn-cs"/>
              </a:rPr>
              <a:t>minutes</a:t>
            </a:r>
            <a:r>
              <a:rPr lang="en-US" sz="1200" b="0" u="none" strike="noStrike" kern="1200" dirty="0">
                <a:solidFill>
                  <a:schemeClr val="tx1"/>
                </a:solidFill>
                <a:effectLst/>
                <a:latin typeface="+mn-lt"/>
                <a:ea typeface="+mn-ea"/>
                <a:cs typeface="+mn-cs"/>
              </a:rPr>
              <a:t> for high-VPR threats.</a:t>
            </a:r>
          </a:p>
          <a:p>
            <a:r>
              <a:rPr lang="en-US" sz="1200" b="1" u="none" strike="noStrike" kern="1200" dirty="0">
                <a:solidFill>
                  <a:schemeClr val="tx1"/>
                </a:solidFill>
                <a:effectLst/>
                <a:latin typeface="+mn-lt"/>
                <a:ea typeface="+mn-ea"/>
                <a:cs typeface="+mn-cs"/>
              </a:rPr>
              <a:t>CIS Compliance Score:</a:t>
            </a:r>
            <a:r>
              <a:rPr lang="en-US" sz="1200" b="0" u="none" strike="noStrike" kern="1200" dirty="0">
                <a:solidFill>
                  <a:schemeClr val="tx1"/>
                </a:solidFill>
                <a:effectLst/>
                <a:latin typeface="+mn-lt"/>
                <a:ea typeface="+mn-ea"/>
                <a:cs typeface="+mn-cs"/>
              </a:rPr>
              <a:t> A real-time audit of the AWS/Azure baseline. Maintaining a score </a:t>
            </a:r>
            <a:r>
              <a:rPr lang="en-US" sz="1200" b="1" u="none" strike="noStrike" kern="1200" dirty="0">
                <a:solidFill>
                  <a:schemeClr val="tx1"/>
                </a:solidFill>
                <a:effectLst/>
                <a:latin typeface="+mn-lt"/>
                <a:ea typeface="+mn-ea"/>
                <a:cs typeface="+mn-cs"/>
              </a:rPr>
              <a:t>&gt;95%</a:t>
            </a:r>
            <a:r>
              <a:rPr lang="en-US" sz="1200" b="0" u="none" strike="noStrike" kern="1200" dirty="0">
                <a:solidFill>
                  <a:schemeClr val="tx1"/>
                </a:solidFill>
                <a:effectLst/>
                <a:latin typeface="+mn-lt"/>
                <a:ea typeface="+mn-ea"/>
                <a:cs typeface="+mn-cs"/>
              </a:rPr>
              <a:t> ensures that the "Fail-Closed" infrastructure itself is hardened against misconfigurations.</a:t>
            </a:r>
          </a:p>
          <a:p>
            <a:r>
              <a:rPr lang="en-US" sz="1200" b="1" u="none" strike="noStrike" kern="1200" dirty="0">
                <a:solidFill>
                  <a:schemeClr val="tx1"/>
                </a:solidFill>
                <a:effectLst/>
                <a:latin typeface="+mn-lt"/>
                <a:ea typeface="+mn-ea"/>
                <a:cs typeface="+mn-cs"/>
              </a:rPr>
              <a:t>Egress Block Rate:</a:t>
            </a:r>
            <a:r>
              <a:rPr lang="en-US" sz="1200" b="0" u="none" strike="noStrike" kern="1200" dirty="0">
                <a:solidFill>
                  <a:schemeClr val="tx1"/>
                </a:solidFill>
                <a:effectLst/>
                <a:latin typeface="+mn-lt"/>
                <a:ea typeface="+mn-ea"/>
                <a:cs typeface="+mn-cs"/>
              </a:rPr>
              <a:t> Visualizes the "Signal-to-Noise" ratio. High block rates for "Critical Threats" prove the SASE hub is successfully neutralizing exfiltration attempts that would have bypassed a standard gateway.</a:t>
            </a:r>
          </a:p>
          <a:p>
            <a:r>
              <a:rPr lang="en-US" sz="1200" b="1" u="none" strike="noStrike" kern="1200" dirty="0">
                <a:solidFill>
                  <a:schemeClr val="tx1"/>
                </a:solidFill>
                <a:effectLst/>
                <a:latin typeface="+mn-lt"/>
                <a:ea typeface="+mn-ea"/>
                <a:cs typeface="+mn-cs"/>
              </a:rPr>
              <a:t>Control Drift Status:</a:t>
            </a:r>
            <a:r>
              <a:rPr lang="en-US" sz="1200" b="0" u="none" strike="noStrike" kern="1200" dirty="0">
                <a:solidFill>
                  <a:schemeClr val="tx1"/>
                </a:solidFill>
                <a:effectLst/>
                <a:latin typeface="+mn-lt"/>
                <a:ea typeface="+mn-ea"/>
                <a:cs typeface="+mn-cs"/>
              </a:rPr>
              <a:t> Tracks "Security Integrity." This ensures that 100% of spokes are still routing through the Hub and haven't had "backdoor" Internet Gateways manually attached.</a:t>
            </a:r>
          </a:p>
          <a:p>
            <a:endParaRPr lang="en-US" dirty="0"/>
          </a:p>
        </p:txBody>
      </p:sp>
      <p:sp>
        <p:nvSpPr>
          <p:cNvPr id="4" name="Slide Number Placeholder 3"/>
          <p:cNvSpPr>
            <a:spLocks noGrp="1"/>
          </p:cNvSpPr>
          <p:nvPr>
            <p:ph type="sldNum" sz="quarter" idx="5"/>
          </p:nvPr>
        </p:nvSpPr>
        <p:spPr/>
        <p:txBody>
          <a:bodyPr/>
          <a:lstStyle/>
          <a:p>
            <a:fld id="{98B7BF91-43EE-4A13-9DB2-91396105D456}" type="slidenum">
              <a:rPr lang="en-US" smtClean="0"/>
              <a:t>6</a:t>
            </a:fld>
            <a:endParaRPr lang="en-US"/>
          </a:p>
        </p:txBody>
      </p:sp>
    </p:spTree>
    <p:extLst>
      <p:ext uri="{BB962C8B-B14F-4D97-AF65-F5344CB8AC3E}">
        <p14:creationId xmlns:p14="http://schemas.microsoft.com/office/powerpoint/2010/main" val="469803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775D2-21DA-187D-DEF7-4F8B7E1E64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929E77-631A-74E7-9EBF-6B11373C95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ED7F08-52E4-186E-3708-A3756E1C1D01}"/>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5" name="Footer Placeholder 4">
            <a:extLst>
              <a:ext uri="{FF2B5EF4-FFF2-40B4-BE49-F238E27FC236}">
                <a16:creationId xmlns:a16="http://schemas.microsoft.com/office/drawing/2014/main" id="{43C42723-C515-1142-3803-DB2585FDBE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8CF20-313A-B747-BCAD-793F8BE99851}"/>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1873613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98853-7C4B-7A01-17C4-5475104864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8BFC5-76B9-8E02-C9E4-571CE9902A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A7924A-1C9D-6D25-E5AC-4CE1E992B875}"/>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5" name="Footer Placeholder 4">
            <a:extLst>
              <a:ext uri="{FF2B5EF4-FFF2-40B4-BE49-F238E27FC236}">
                <a16:creationId xmlns:a16="http://schemas.microsoft.com/office/drawing/2014/main" id="{46294B5F-5B79-D2E7-86A4-5B2FEE8C5F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3AAA62-8E65-D62D-2131-0520A7CD361E}"/>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1609613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E739F-EBDF-A0E2-C57E-A899CE1102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653764-2F72-4821-FBC9-AB1E7A60F3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97D4A5-93C2-2F52-2120-E2027C1965F2}"/>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5" name="Footer Placeholder 4">
            <a:extLst>
              <a:ext uri="{FF2B5EF4-FFF2-40B4-BE49-F238E27FC236}">
                <a16:creationId xmlns:a16="http://schemas.microsoft.com/office/drawing/2014/main" id="{A3F868EB-CA25-6CAE-D360-4CF9F6A30A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E930AD-EFD4-86A3-D8AC-E46CC18CFFB0}"/>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2190041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93F3-D859-3338-BC3B-C81ACAF919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BC464B-695B-713E-5401-2B28E701C3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81CDF7-9E81-E62F-1475-A6A43A6188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2F4B96-19AD-A75D-6086-53AF18200F1E}"/>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6" name="Footer Placeholder 5">
            <a:extLst>
              <a:ext uri="{FF2B5EF4-FFF2-40B4-BE49-F238E27FC236}">
                <a16:creationId xmlns:a16="http://schemas.microsoft.com/office/drawing/2014/main" id="{BCAEB1B6-90B9-BD4B-6124-0D6A4AC1C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C6A94D-054A-8CC9-E4C3-E9E293748B90}"/>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286611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337C0-0031-7FE8-01FC-750A685FF6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20288B-D09E-97FE-0321-F5BDEE085F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F3E66C-0303-C827-3EE4-80CBE5010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AC5FA1-EBAA-664F-6C95-507A2EC680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714F01-83C4-5375-A020-433442A286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2C886C-E756-60B5-D622-F224D07656D6}"/>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8" name="Footer Placeholder 7">
            <a:extLst>
              <a:ext uri="{FF2B5EF4-FFF2-40B4-BE49-F238E27FC236}">
                <a16:creationId xmlns:a16="http://schemas.microsoft.com/office/drawing/2014/main" id="{939ABBD8-9D25-7293-60B1-FBA32EB9EE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DE1F5A-E51A-2E78-3FEC-CF1B0FD993E6}"/>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1244202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A2F8D-B20E-12AE-5574-522FCFB217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DA766-4B5B-B096-4E45-05D0730751AF}"/>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4" name="Footer Placeholder 3">
            <a:extLst>
              <a:ext uri="{FF2B5EF4-FFF2-40B4-BE49-F238E27FC236}">
                <a16:creationId xmlns:a16="http://schemas.microsoft.com/office/drawing/2014/main" id="{BE699044-C7BA-9222-3CAC-C5832A2488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0D31C2-71D5-6EA1-AE7C-DCC4912FEB93}"/>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2981800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06E19-5FA7-33C1-C6A9-DCDCC47D506F}"/>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3" name="Footer Placeholder 2">
            <a:extLst>
              <a:ext uri="{FF2B5EF4-FFF2-40B4-BE49-F238E27FC236}">
                <a16:creationId xmlns:a16="http://schemas.microsoft.com/office/drawing/2014/main" id="{61CC8426-873A-7B59-A63A-DE772A749E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D1BB94-6F70-0804-DB58-B8387ED0E16A}"/>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609122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8B3A0-AF4F-180C-B9E4-9F8FEE418A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03F62D-D969-3461-A751-2E23777C85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F0CF8C-E5FB-717B-E862-A04368E01C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D9ECF7-5C5F-3E53-9C9F-F10D4A9EB62A}"/>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6" name="Footer Placeholder 5">
            <a:extLst>
              <a:ext uri="{FF2B5EF4-FFF2-40B4-BE49-F238E27FC236}">
                <a16:creationId xmlns:a16="http://schemas.microsoft.com/office/drawing/2014/main" id="{9DB1EAE9-4EB5-8A04-ACD0-6CC9D2460D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D950C-CFC7-BFF9-0980-961AD4F4170B}"/>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1115571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D4070-D82D-3DB0-9D66-087CD2F3D8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5D83F3-200B-2247-7BDE-F74B1E3723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5F1B90-E39A-35E7-F987-ED0D75276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E08035-1672-C283-80A0-29879FE08866}"/>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6" name="Footer Placeholder 5">
            <a:extLst>
              <a:ext uri="{FF2B5EF4-FFF2-40B4-BE49-F238E27FC236}">
                <a16:creationId xmlns:a16="http://schemas.microsoft.com/office/drawing/2014/main" id="{97B97080-3791-D3CB-C1A6-A14558ECD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8D2EE4-03FC-5BB7-ACEC-B069DF170BA5}"/>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4246618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E894-A876-5ED7-F31F-7AC40E6358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7DBE0D-2401-1FF2-4DE2-1C8E753FB8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CAF83-A2AF-4F2B-AAA6-DAB3ADF1D679}"/>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5" name="Footer Placeholder 4">
            <a:extLst>
              <a:ext uri="{FF2B5EF4-FFF2-40B4-BE49-F238E27FC236}">
                <a16:creationId xmlns:a16="http://schemas.microsoft.com/office/drawing/2014/main" id="{4FEDBFAC-A175-89DC-718E-F9B273755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9F6994-8D43-F30A-78F5-D207D8CE2FBE}"/>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1764904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074BC6-4CB1-4142-ADDC-2C5D17B871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93C29F-2E6D-3079-BDDC-D13EAEB906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81C97A-6938-9C75-CE76-2A49440C606B}"/>
              </a:ext>
            </a:extLst>
          </p:cNvPr>
          <p:cNvSpPr>
            <a:spLocks noGrp="1"/>
          </p:cNvSpPr>
          <p:nvPr>
            <p:ph type="dt" sz="half" idx="10"/>
          </p:nvPr>
        </p:nvSpPr>
        <p:spPr/>
        <p:txBody>
          <a:bodyPr/>
          <a:lstStyle/>
          <a:p>
            <a:fld id="{BFF22EB0-3383-4D1A-A298-91F52ADA6846}" type="datetimeFigureOut">
              <a:rPr lang="en-US" smtClean="0"/>
              <a:t>5/12/2026</a:t>
            </a:fld>
            <a:endParaRPr lang="en-US"/>
          </a:p>
        </p:txBody>
      </p:sp>
      <p:sp>
        <p:nvSpPr>
          <p:cNvPr id="5" name="Footer Placeholder 4">
            <a:extLst>
              <a:ext uri="{FF2B5EF4-FFF2-40B4-BE49-F238E27FC236}">
                <a16:creationId xmlns:a16="http://schemas.microsoft.com/office/drawing/2014/main" id="{5E3AAB49-EC68-0358-4199-A01C0130EE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9E14F3-4EE0-952A-4689-85B4B6380AB8}"/>
              </a:ext>
            </a:extLst>
          </p:cNvPr>
          <p:cNvSpPr>
            <a:spLocks noGrp="1"/>
          </p:cNvSpPr>
          <p:nvPr>
            <p:ph type="sldNum" sz="quarter" idx="12"/>
          </p:nvPr>
        </p:nvSpPr>
        <p:spPr/>
        <p:txBody>
          <a:bodyPr/>
          <a:lstStyle/>
          <a:p>
            <a:fld id="{E8B5E0E9-A709-480D-9906-073BFCECA5C4}" type="slidenum">
              <a:rPr lang="en-US" smtClean="0"/>
              <a:t>‹#›</a:t>
            </a:fld>
            <a:endParaRPr lang="en-US"/>
          </a:p>
        </p:txBody>
      </p:sp>
    </p:spTree>
    <p:extLst>
      <p:ext uri="{BB962C8B-B14F-4D97-AF65-F5344CB8AC3E}">
        <p14:creationId xmlns:p14="http://schemas.microsoft.com/office/powerpoint/2010/main" val="1493387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4ACEC-9C54-8B58-0D52-36FAA2C701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DAAC34-5E09-3612-3832-66C076A047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02FEE7-1F1E-C734-F7E5-958FB6278B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F22EB0-3383-4D1A-A298-91F52ADA6846}" type="datetimeFigureOut">
              <a:rPr lang="en-US" smtClean="0"/>
              <a:t>5/12/2026</a:t>
            </a:fld>
            <a:endParaRPr lang="en-US"/>
          </a:p>
        </p:txBody>
      </p:sp>
      <p:sp>
        <p:nvSpPr>
          <p:cNvPr id="5" name="Footer Placeholder 4">
            <a:extLst>
              <a:ext uri="{FF2B5EF4-FFF2-40B4-BE49-F238E27FC236}">
                <a16:creationId xmlns:a16="http://schemas.microsoft.com/office/drawing/2014/main" id="{CA09BAE0-2147-DCE5-C201-5BB0EC4E1A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1407E1-23AC-8CD5-8F09-AEED35422B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B5E0E9-A709-480D-9906-073BFCECA5C4}" type="slidenum">
              <a:rPr lang="en-US" smtClean="0"/>
              <a:t>‹#›</a:t>
            </a:fld>
            <a:endParaRPr lang="en-US"/>
          </a:p>
        </p:txBody>
      </p:sp>
    </p:spTree>
    <p:extLst>
      <p:ext uri="{BB962C8B-B14F-4D97-AF65-F5344CB8AC3E}">
        <p14:creationId xmlns:p14="http://schemas.microsoft.com/office/powerpoint/2010/main" val="3175116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BE648E-59E9-3731-4308-8742991BF129}"/>
              </a:ext>
            </a:extLst>
          </p:cNvPr>
          <p:cNvSpPr>
            <a:spLocks noGrp="1"/>
          </p:cNvSpPr>
          <p:nvPr>
            <p:ph type="ctrTitle"/>
          </p:nvPr>
        </p:nvSpPr>
        <p:spPr>
          <a:xfrm>
            <a:off x="1028700" y="1967266"/>
            <a:ext cx="2628900" cy="2547257"/>
          </a:xfrm>
          <a:noFill/>
        </p:spPr>
        <p:txBody>
          <a:bodyPr vert="horz" lIns="91440" tIns="45720" rIns="91440" bIns="45720" rtlCol="0" anchor="ctr">
            <a:normAutofit/>
          </a:bodyPr>
          <a:lstStyle/>
          <a:p>
            <a:r>
              <a:rPr lang="en-US" sz="3300" kern="1200" dirty="0">
                <a:solidFill>
                  <a:srgbClr val="FFFFFF"/>
                </a:solidFill>
                <a:latin typeface="+mj-lt"/>
                <a:ea typeface="+mj-ea"/>
                <a:cs typeface="+mj-cs"/>
              </a:rPr>
              <a:t>Transitioning from reactive snapshots to </a:t>
            </a:r>
            <a:r>
              <a:rPr lang="en-US" sz="3300" b="1" kern="1200" dirty="0">
                <a:solidFill>
                  <a:srgbClr val="FFFFFF"/>
                </a:solidFill>
                <a:latin typeface="+mj-lt"/>
                <a:ea typeface="+mj-ea"/>
                <a:cs typeface="+mj-cs"/>
              </a:rPr>
              <a:t>Continuous Assurance</a:t>
            </a:r>
            <a:endParaRPr lang="en-US" sz="3300" kern="120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AFA6B122-AB91-0468-D07C-9441ACC24608}"/>
              </a:ext>
            </a:extLst>
          </p:cNvPr>
          <p:cNvPicPr>
            <a:picLocks noChangeAspect="1"/>
          </p:cNvPicPr>
          <p:nvPr/>
        </p:nvPicPr>
        <p:blipFill>
          <a:blip r:embed="rId3"/>
          <a:stretch>
            <a:fillRect/>
          </a:stretch>
        </p:blipFill>
        <p:spPr>
          <a:xfrm>
            <a:off x="4777316" y="1147825"/>
            <a:ext cx="6780700" cy="4560021"/>
          </a:xfrm>
          <a:prstGeom prst="rect">
            <a:avLst/>
          </a:prstGeom>
        </p:spPr>
      </p:pic>
    </p:spTree>
    <p:extLst>
      <p:ext uri="{BB962C8B-B14F-4D97-AF65-F5344CB8AC3E}">
        <p14:creationId xmlns:p14="http://schemas.microsoft.com/office/powerpoint/2010/main" val="987599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of a graph lightbox">
            <a:extLst>
              <a:ext uri="{FF2B5EF4-FFF2-40B4-BE49-F238E27FC236}">
                <a16:creationId xmlns:a16="http://schemas.microsoft.com/office/drawing/2014/main" id="{1DC44D00-C4FC-081D-2199-564D33E93C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554" b="15511"/>
          <a:stretch>
            <a:fillRect/>
          </a:stretch>
        </p:blipFill>
        <p:spPr bwMode="auto">
          <a:xfrm>
            <a:off x="609600" y="1690688"/>
            <a:ext cx="10972800" cy="371341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74330F2-B092-89CF-49FB-DDF94C4052A3}"/>
              </a:ext>
            </a:extLst>
          </p:cNvPr>
          <p:cNvSpPr>
            <a:spLocks noGrp="1"/>
          </p:cNvSpPr>
          <p:nvPr>
            <p:ph type="title"/>
          </p:nvPr>
        </p:nvSpPr>
        <p:spPr/>
        <p:txBody>
          <a:bodyPr/>
          <a:lstStyle/>
          <a:p>
            <a:r>
              <a:rPr lang="en-US" dirty="0"/>
              <a:t>The Multi-Cloud Defensive Architecture</a:t>
            </a:r>
          </a:p>
        </p:txBody>
      </p:sp>
    </p:spTree>
    <p:extLst>
      <p:ext uri="{BB962C8B-B14F-4D97-AF65-F5344CB8AC3E}">
        <p14:creationId xmlns:p14="http://schemas.microsoft.com/office/powerpoint/2010/main" val="2424005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FF16A-D11F-45EA-2367-302E639B5D5F}"/>
              </a:ext>
            </a:extLst>
          </p:cNvPr>
          <p:cNvSpPr>
            <a:spLocks noGrp="1"/>
          </p:cNvSpPr>
          <p:nvPr>
            <p:ph type="title"/>
          </p:nvPr>
        </p:nvSpPr>
        <p:spPr/>
        <p:txBody>
          <a:bodyPr/>
          <a:lstStyle/>
          <a:p>
            <a:r>
              <a:rPr lang="en-US" dirty="0"/>
              <a:t>Predictive Risk Management (Tenable VPR)</a:t>
            </a:r>
          </a:p>
        </p:txBody>
      </p:sp>
      <p:sp>
        <p:nvSpPr>
          <p:cNvPr id="3" name="Content Placeholder 2">
            <a:extLst>
              <a:ext uri="{FF2B5EF4-FFF2-40B4-BE49-F238E27FC236}">
                <a16:creationId xmlns:a16="http://schemas.microsoft.com/office/drawing/2014/main" id="{071C871E-A7AB-303F-3492-6FE45EB3F9EB}"/>
              </a:ext>
            </a:extLst>
          </p:cNvPr>
          <p:cNvSpPr>
            <a:spLocks noGrp="1"/>
          </p:cNvSpPr>
          <p:nvPr>
            <p:ph idx="1"/>
          </p:nvPr>
        </p:nvSpPr>
        <p:spPr/>
        <p:txBody>
          <a:bodyPr>
            <a:normAutofit/>
          </a:bodyPr>
          <a:lstStyle/>
          <a:p>
            <a:pPr marL="0" indent="0">
              <a:buNone/>
            </a:pPr>
            <a:r>
              <a:rPr lang="en-US" sz="2000" b="1" dirty="0"/>
              <a:t>Key Concept:</a:t>
            </a:r>
            <a:r>
              <a:rPr lang="en-US" sz="2000" dirty="0"/>
              <a:t> Prioritizing the </a:t>
            </a:r>
            <a:r>
              <a:rPr lang="en-US" sz="2000" b="1" dirty="0"/>
              <a:t>1.6% of vulnerabilities</a:t>
            </a:r>
            <a:r>
              <a:rPr lang="en-US" sz="2000" dirty="0"/>
              <a:t> that pose a real-world threat.</a:t>
            </a:r>
          </a:p>
        </p:txBody>
      </p:sp>
      <p:pic>
        <p:nvPicPr>
          <p:cNvPr id="4" name="Picture 3">
            <a:extLst>
              <a:ext uri="{FF2B5EF4-FFF2-40B4-BE49-F238E27FC236}">
                <a16:creationId xmlns:a16="http://schemas.microsoft.com/office/drawing/2014/main" id="{A14A00D3-4D67-A8BD-72C3-C1B44E0745E3}"/>
              </a:ext>
            </a:extLst>
          </p:cNvPr>
          <p:cNvPicPr>
            <a:picLocks noChangeAspect="1"/>
          </p:cNvPicPr>
          <p:nvPr/>
        </p:nvPicPr>
        <p:blipFill>
          <a:blip r:embed="rId3"/>
          <a:stretch>
            <a:fillRect/>
          </a:stretch>
        </p:blipFill>
        <p:spPr>
          <a:xfrm>
            <a:off x="3172968" y="2173692"/>
            <a:ext cx="4942332" cy="3244749"/>
          </a:xfrm>
          <a:prstGeom prst="rect">
            <a:avLst/>
          </a:prstGeom>
        </p:spPr>
      </p:pic>
      <p:sp>
        <p:nvSpPr>
          <p:cNvPr id="5" name="TextBox 4">
            <a:extLst>
              <a:ext uri="{FF2B5EF4-FFF2-40B4-BE49-F238E27FC236}">
                <a16:creationId xmlns:a16="http://schemas.microsoft.com/office/drawing/2014/main" id="{E1A8CE91-634F-B81F-5CB4-F3C04B3607E7}"/>
              </a:ext>
            </a:extLst>
          </p:cNvPr>
          <p:cNvSpPr txBox="1"/>
          <p:nvPr/>
        </p:nvSpPr>
        <p:spPr>
          <a:xfrm>
            <a:off x="838200" y="5567715"/>
            <a:ext cx="10743839" cy="369332"/>
          </a:xfrm>
          <a:prstGeom prst="rect">
            <a:avLst/>
          </a:prstGeom>
          <a:noFill/>
        </p:spPr>
        <p:txBody>
          <a:bodyPr wrap="none" rtlCol="0">
            <a:spAutoFit/>
          </a:bodyPr>
          <a:lstStyle/>
          <a:p>
            <a:r>
              <a:rPr lang="en-US" dirty="0"/>
              <a:t>The graph demonstrates how VPR reduces "High/Critical" noise, allowing teams to hit the </a:t>
            </a:r>
            <a:r>
              <a:rPr lang="en-US" b="1" dirty="0"/>
              <a:t>remediation SLA</a:t>
            </a:r>
            <a:r>
              <a:rPr lang="en-US" dirty="0"/>
              <a:t>.</a:t>
            </a:r>
          </a:p>
        </p:txBody>
      </p:sp>
    </p:spTree>
    <p:extLst>
      <p:ext uri="{BB962C8B-B14F-4D97-AF65-F5344CB8AC3E}">
        <p14:creationId xmlns:p14="http://schemas.microsoft.com/office/powerpoint/2010/main" val="3339012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62810856-7B21-E4B7-1FDB-9AB79A915480}"/>
              </a:ext>
            </a:extLst>
          </p:cNvPr>
          <p:cNvPicPr>
            <a:picLocks noGrp="1" noChangeAspect="1"/>
          </p:cNvPicPr>
          <p:nvPr>
            <p:ph idx="1"/>
          </p:nvPr>
        </p:nvPicPr>
        <p:blipFill>
          <a:blip r:embed="rId3"/>
          <a:stretch>
            <a:fillRect/>
          </a:stretch>
        </p:blipFill>
        <p:spPr>
          <a:xfrm>
            <a:off x="1619693" y="1690688"/>
            <a:ext cx="8952614" cy="4623232"/>
          </a:xfrm>
          <a:prstGeom prst="rect">
            <a:avLst/>
          </a:prstGeom>
        </p:spPr>
      </p:pic>
      <p:sp>
        <p:nvSpPr>
          <p:cNvPr id="11" name="TextBox 10">
            <a:extLst>
              <a:ext uri="{FF2B5EF4-FFF2-40B4-BE49-F238E27FC236}">
                <a16:creationId xmlns:a16="http://schemas.microsoft.com/office/drawing/2014/main" id="{E537420E-8F79-2F22-6D77-4C5F5A4A3AB8}"/>
              </a:ext>
            </a:extLst>
          </p:cNvPr>
          <p:cNvSpPr txBox="1"/>
          <p:nvPr/>
        </p:nvSpPr>
        <p:spPr>
          <a:xfrm>
            <a:off x="2573078" y="680484"/>
            <a:ext cx="8102009" cy="769441"/>
          </a:xfrm>
          <a:prstGeom prst="rect">
            <a:avLst/>
          </a:prstGeom>
          <a:noFill/>
        </p:spPr>
        <p:txBody>
          <a:bodyPr wrap="square" rtlCol="0">
            <a:spAutoFit/>
          </a:bodyPr>
          <a:lstStyle/>
          <a:p>
            <a:r>
              <a:rPr lang="en-US" sz="4400" dirty="0"/>
              <a:t>Continuous Audit Matrix</a:t>
            </a:r>
          </a:p>
        </p:txBody>
      </p:sp>
    </p:spTree>
    <p:extLst>
      <p:ext uri="{BB962C8B-B14F-4D97-AF65-F5344CB8AC3E}">
        <p14:creationId xmlns:p14="http://schemas.microsoft.com/office/powerpoint/2010/main" val="1456569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8A63A-A4EB-10EE-2B92-AB3509D5358F}"/>
              </a:ext>
            </a:extLst>
          </p:cNvPr>
          <p:cNvSpPr>
            <a:spLocks noGrp="1"/>
          </p:cNvSpPr>
          <p:nvPr>
            <p:ph type="title"/>
          </p:nvPr>
        </p:nvSpPr>
        <p:spPr/>
        <p:txBody>
          <a:bodyPr/>
          <a:lstStyle/>
          <a:p>
            <a:r>
              <a:rPr lang="en-US" dirty="0"/>
              <a:t>Egress Integrity &amp; Data Exfiltration Protection</a:t>
            </a:r>
          </a:p>
        </p:txBody>
      </p:sp>
      <p:pic>
        <p:nvPicPr>
          <p:cNvPr id="4" name="Content Placeholder 3">
            <a:extLst>
              <a:ext uri="{FF2B5EF4-FFF2-40B4-BE49-F238E27FC236}">
                <a16:creationId xmlns:a16="http://schemas.microsoft.com/office/drawing/2014/main" id="{B7A9EB09-A425-134A-D197-C1473FF8A0E9}"/>
              </a:ext>
            </a:extLst>
          </p:cNvPr>
          <p:cNvPicPr>
            <a:picLocks noGrp="1" noChangeAspect="1"/>
          </p:cNvPicPr>
          <p:nvPr>
            <p:ph idx="1"/>
          </p:nvPr>
        </p:nvPicPr>
        <p:blipFill>
          <a:blip r:embed="rId3"/>
          <a:stretch>
            <a:fillRect/>
          </a:stretch>
        </p:blipFill>
        <p:spPr>
          <a:xfrm>
            <a:off x="838200" y="2358231"/>
            <a:ext cx="10515600" cy="3286125"/>
          </a:xfrm>
          <a:prstGeom prst="rect">
            <a:avLst/>
          </a:prstGeom>
        </p:spPr>
      </p:pic>
      <p:sp>
        <p:nvSpPr>
          <p:cNvPr id="5" name="TextBox 4">
            <a:extLst>
              <a:ext uri="{FF2B5EF4-FFF2-40B4-BE49-F238E27FC236}">
                <a16:creationId xmlns:a16="http://schemas.microsoft.com/office/drawing/2014/main" id="{9501613C-6648-234E-B523-FFA49470EF6C}"/>
              </a:ext>
            </a:extLst>
          </p:cNvPr>
          <p:cNvSpPr txBox="1"/>
          <p:nvPr/>
        </p:nvSpPr>
        <p:spPr>
          <a:xfrm>
            <a:off x="2004291" y="1839793"/>
            <a:ext cx="7709868" cy="369332"/>
          </a:xfrm>
          <a:prstGeom prst="rect">
            <a:avLst/>
          </a:prstGeom>
          <a:noFill/>
        </p:spPr>
        <p:txBody>
          <a:bodyPr wrap="none" rtlCol="0">
            <a:spAutoFit/>
          </a:bodyPr>
          <a:lstStyle/>
          <a:p>
            <a:r>
              <a:rPr lang="en-US" b="1" dirty="0"/>
              <a:t>Key Concept:</a:t>
            </a:r>
            <a:r>
              <a:rPr lang="en-US" dirty="0"/>
              <a:t> Identity-aware </a:t>
            </a:r>
            <a:r>
              <a:rPr lang="en-US" b="1" dirty="0"/>
              <a:t>FQDN filtering</a:t>
            </a:r>
            <a:r>
              <a:rPr lang="en-US" dirty="0"/>
              <a:t> and Cloud DLP via Cisco SASE.</a:t>
            </a:r>
          </a:p>
        </p:txBody>
      </p:sp>
      <p:sp>
        <p:nvSpPr>
          <p:cNvPr id="6" name="TextBox 5">
            <a:extLst>
              <a:ext uri="{FF2B5EF4-FFF2-40B4-BE49-F238E27FC236}">
                <a16:creationId xmlns:a16="http://schemas.microsoft.com/office/drawing/2014/main" id="{97BF6A91-E59C-2994-149B-8BAEF0C3FAD9}"/>
              </a:ext>
            </a:extLst>
          </p:cNvPr>
          <p:cNvSpPr txBox="1"/>
          <p:nvPr/>
        </p:nvSpPr>
        <p:spPr>
          <a:xfrm>
            <a:off x="838200" y="5763491"/>
            <a:ext cx="10515600" cy="646331"/>
          </a:xfrm>
          <a:prstGeom prst="rect">
            <a:avLst/>
          </a:prstGeom>
          <a:noFill/>
        </p:spPr>
        <p:txBody>
          <a:bodyPr wrap="square" rtlCol="0">
            <a:spAutoFit/>
          </a:bodyPr>
          <a:lstStyle/>
          <a:p>
            <a:r>
              <a:rPr lang="en-US" b="1" dirty="0"/>
              <a:t>SASE Framework</a:t>
            </a:r>
            <a:r>
              <a:rPr lang="en-US" dirty="0"/>
              <a:t> where DNS-layer security acts as the primary barrier against data exfiltration to unauthorized financial domains or C2 servers.</a:t>
            </a:r>
          </a:p>
        </p:txBody>
      </p:sp>
    </p:spTree>
    <p:extLst>
      <p:ext uri="{BB962C8B-B14F-4D97-AF65-F5344CB8AC3E}">
        <p14:creationId xmlns:p14="http://schemas.microsoft.com/office/powerpoint/2010/main" val="346197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C3497-7A57-9228-9D24-378CBDD5B063}"/>
              </a:ext>
            </a:extLst>
          </p:cNvPr>
          <p:cNvSpPr>
            <a:spLocks noGrp="1"/>
          </p:cNvSpPr>
          <p:nvPr>
            <p:ph type="title"/>
          </p:nvPr>
        </p:nvSpPr>
        <p:spPr/>
        <p:txBody>
          <a:bodyPr/>
          <a:lstStyle/>
          <a:p>
            <a:pPr algn="ctr"/>
            <a:r>
              <a:rPr lang="en-US" dirty="0"/>
              <a:t>Performance Benchmarks</a:t>
            </a:r>
          </a:p>
        </p:txBody>
      </p:sp>
      <p:pic>
        <p:nvPicPr>
          <p:cNvPr id="5" name="Picture 4">
            <a:extLst>
              <a:ext uri="{FF2B5EF4-FFF2-40B4-BE49-F238E27FC236}">
                <a16:creationId xmlns:a16="http://schemas.microsoft.com/office/drawing/2014/main" id="{00820E8C-A69B-CA43-3A44-7450FEEE69F5}"/>
              </a:ext>
            </a:extLst>
          </p:cNvPr>
          <p:cNvPicPr>
            <a:picLocks noChangeAspect="1"/>
          </p:cNvPicPr>
          <p:nvPr/>
        </p:nvPicPr>
        <p:blipFill>
          <a:blip r:embed="rId3"/>
          <a:stretch>
            <a:fillRect/>
          </a:stretch>
        </p:blipFill>
        <p:spPr>
          <a:xfrm>
            <a:off x="1020726" y="1509156"/>
            <a:ext cx="9526772" cy="4520273"/>
          </a:xfrm>
          <a:prstGeom prst="rect">
            <a:avLst/>
          </a:prstGeom>
        </p:spPr>
      </p:pic>
    </p:spTree>
    <p:extLst>
      <p:ext uri="{BB962C8B-B14F-4D97-AF65-F5344CB8AC3E}">
        <p14:creationId xmlns:p14="http://schemas.microsoft.com/office/powerpoint/2010/main" val="2540950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2235</Words>
  <Application>Microsoft Office PowerPoint</Application>
  <PresentationFormat>Widescreen</PresentationFormat>
  <Paragraphs>112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Transitioning from reactive snapshots to Continuous Assurance</vt:lpstr>
      <vt:lpstr>The Multi-Cloud Defensive Architecture</vt:lpstr>
      <vt:lpstr>Predictive Risk Management (Tenable VPR)</vt:lpstr>
      <vt:lpstr>PowerPoint Presentation</vt:lpstr>
      <vt:lpstr>Egress Integrity &amp; Data Exfiltration Protection</vt:lpstr>
      <vt:lpstr>Performance Benchmarks</vt:lpstr>
    </vt:vector>
  </TitlesOfParts>
  <Company>Hilltop Holdings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Simpson</dc:creator>
  <cp:lastModifiedBy>Brian Simpson</cp:lastModifiedBy>
  <cp:revision>2</cp:revision>
  <dcterms:created xsi:type="dcterms:W3CDTF">2026-05-12T18:24:44Z</dcterms:created>
  <dcterms:modified xsi:type="dcterms:W3CDTF">2026-05-12T19:53:11Z</dcterms:modified>
</cp:coreProperties>
</file>